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8288000" cy="10287000"/>
  <p:notesSz cx="6858000" cy="9144000"/>
  <p:embeddedFontLst>
    <p:embeddedFont>
      <p:font typeface="Archivo Black" panose="020B0A03020202020B04"/>
      <p:regular r:id="rId19"/>
    </p:embeddedFont>
    <p:embeddedFont>
      <p:font typeface="Red Hat Display" panose="02010503040201060303"/>
      <p:regular r:id="rId20"/>
    </p:embeddedFont>
    <p:embeddedFont>
      <p:font typeface="Lato" panose="020F0502020204030203"/>
      <p:regular r:id="rId21"/>
    </p:embeddedFont>
    <p:embeddedFont>
      <p:font typeface="Canva Sans Bold" panose="020B0803030501040103"/>
      <p:bold r:id="rId22"/>
    </p:embeddedFont>
    <p:embeddedFont>
      <p:font typeface="Canva Sans" panose="020B0503030501040103"/>
      <p:regular r:id="rId23"/>
    </p:embeddedFont>
    <p:embeddedFont>
      <p:font typeface="Calibri" panose="020F050202020403020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sp>
        <p:nvSpPr>
          <p:cNvPr id="3" name="TextBox 3"/>
          <p:cNvSpPr txBox="1"/>
          <p:nvPr/>
        </p:nvSpPr>
        <p:spPr>
          <a:xfrm>
            <a:off x="993077" y="3478250"/>
            <a:ext cx="11695306" cy="1295635"/>
          </a:xfrm>
          <a:prstGeom prst="rect">
            <a:avLst/>
          </a:prstGeom>
        </p:spPr>
        <p:txBody>
          <a:bodyPr lIns="0" tIns="0" rIns="0" bIns="0" rtlCol="0" anchor="t">
            <a:spAutoFit/>
          </a:bodyPr>
          <a:lstStyle/>
          <a:p>
            <a:pPr algn="l">
              <a:lnSpc>
                <a:spcPts val="4885"/>
              </a:lnSpc>
            </a:pPr>
            <a:r>
              <a:rPr lang="en-US" sz="5200">
                <a:solidFill>
                  <a:srgbClr val="FFFFFF"/>
                </a:solidFill>
                <a:latin typeface="Archivo Black" panose="020B0A03020202020B04"/>
                <a:ea typeface="Archivo Black" panose="020B0A03020202020B04"/>
                <a:cs typeface="Archivo Black" panose="020B0A03020202020B04"/>
                <a:sym typeface="Archivo Black" panose="020B0A03020202020B04"/>
              </a:rPr>
              <a:t>Internship Project </a:t>
            </a:r>
            <a:endParaRPr lang="en-US" sz="5200">
              <a:solidFill>
                <a:srgbClr val="FFFFFF"/>
              </a:solidFill>
              <a:latin typeface="Archivo Black" panose="020B0A03020202020B04"/>
              <a:ea typeface="Archivo Black" panose="020B0A03020202020B04"/>
              <a:cs typeface="Archivo Black" panose="020B0A03020202020B04"/>
              <a:sym typeface="Archivo Black" panose="020B0A03020202020B04"/>
            </a:endParaRPr>
          </a:p>
          <a:p>
            <a:pPr algn="l">
              <a:lnSpc>
                <a:spcPts val="4885"/>
              </a:lnSpc>
            </a:pPr>
            <a:r>
              <a:rPr lang="en-US" sz="5200">
                <a:solidFill>
                  <a:srgbClr val="FFFFFF"/>
                </a:solidFill>
                <a:latin typeface="Archivo Black" panose="020B0A03020202020B04"/>
                <a:ea typeface="Archivo Black" panose="020B0A03020202020B04"/>
                <a:cs typeface="Archivo Black" panose="020B0A03020202020B04"/>
                <a:sym typeface="Archivo Black" panose="020B0A03020202020B04"/>
              </a:rPr>
              <a:t>Presentation</a:t>
            </a:r>
            <a:endParaRPr lang="en-US" sz="5200">
              <a:solidFill>
                <a:srgbClr val="FFFFFF"/>
              </a:solidFill>
              <a:latin typeface="Archivo Black" panose="020B0A03020202020B04"/>
              <a:ea typeface="Archivo Black" panose="020B0A03020202020B04"/>
              <a:cs typeface="Archivo Black" panose="020B0A03020202020B04"/>
              <a:sym typeface="Archivo Black" panose="020B0A03020202020B04"/>
            </a:endParaRPr>
          </a:p>
        </p:txBody>
      </p:sp>
      <p:sp>
        <p:nvSpPr>
          <p:cNvPr id="5" name="Freeform 5"/>
          <p:cNvSpPr/>
          <p:nvPr/>
        </p:nvSpPr>
        <p:spPr>
          <a:xfrm>
            <a:off x="13536543" y="467441"/>
            <a:ext cx="2739706" cy="1122519"/>
          </a:xfrm>
          <a:custGeom>
            <a:avLst/>
            <a:gdLst/>
            <a:ahLst/>
            <a:cxnLst/>
            <a:rect l="l" t="t" r="r" b="b"/>
            <a:pathLst>
              <a:path w="2739706" h="1122519">
                <a:moveTo>
                  <a:pt x="0" y="0"/>
                </a:moveTo>
                <a:lnTo>
                  <a:pt x="2739706" y="0"/>
                </a:lnTo>
                <a:lnTo>
                  <a:pt x="2739706" y="1122518"/>
                </a:lnTo>
                <a:lnTo>
                  <a:pt x="0" y="1122518"/>
                </a:lnTo>
                <a:lnTo>
                  <a:pt x="0" y="0"/>
                </a:lnTo>
                <a:close/>
              </a:path>
            </a:pathLst>
          </a:custGeom>
          <a:blipFill>
            <a:blip r:embed="rId2"/>
            <a:stretch>
              <a:fillRect/>
            </a:stretch>
          </a:blipFill>
        </p:spPr>
      </p:sp>
      <p:sp>
        <p:nvSpPr>
          <p:cNvPr id="6" name="TextBox 6"/>
          <p:cNvSpPr txBox="1"/>
          <p:nvPr/>
        </p:nvSpPr>
        <p:spPr>
          <a:xfrm>
            <a:off x="1028700" y="4829396"/>
            <a:ext cx="8242269" cy="713144"/>
          </a:xfrm>
          <a:prstGeom prst="rect">
            <a:avLst/>
          </a:prstGeom>
        </p:spPr>
        <p:txBody>
          <a:bodyPr lIns="0" tIns="0" rIns="0" bIns="0" rtlCol="0" anchor="t">
            <a:spAutoFit/>
          </a:bodyPr>
          <a:lstStyle/>
          <a:p>
            <a:pPr algn="l">
              <a:lnSpc>
                <a:spcPts val="5840"/>
              </a:lnSpc>
              <a:spcBef>
                <a:spcPct val="0"/>
              </a:spcBef>
            </a:pPr>
            <a:r>
              <a:rPr lang="en-US" sz="4175">
                <a:solidFill>
                  <a:srgbClr val="F4F4ED"/>
                </a:solidFill>
                <a:latin typeface="Red Hat Display" panose="02010503040201060303"/>
                <a:ea typeface="Red Hat Display" panose="02010503040201060303"/>
                <a:cs typeface="Red Hat Display" panose="02010503040201060303"/>
                <a:sym typeface="Red Hat Display" panose="02010503040201060303"/>
              </a:rPr>
              <a:t>Presented by P.Leela Bhargavi</a:t>
            </a:r>
            <a:endParaRPr lang="en-US" sz="4175">
              <a:solidFill>
                <a:srgbClr val="F4F4ED"/>
              </a:solidFill>
              <a:latin typeface="Red Hat Display" panose="02010503040201060303"/>
              <a:ea typeface="Red Hat Display" panose="02010503040201060303"/>
              <a:cs typeface="Red Hat Display" panose="02010503040201060303"/>
              <a:sym typeface="Red Hat Display" panose="02010503040201060303"/>
            </a:endParaRPr>
          </a:p>
        </p:txBody>
      </p:sp>
      <p:sp>
        <p:nvSpPr>
          <p:cNvPr id="7" name="TextBox 7"/>
          <p:cNvSpPr txBox="1"/>
          <p:nvPr/>
        </p:nvSpPr>
        <p:spPr>
          <a:xfrm>
            <a:off x="1164479" y="8870127"/>
            <a:ext cx="3743213" cy="388173"/>
          </a:xfrm>
          <a:prstGeom prst="rect">
            <a:avLst/>
          </a:prstGeom>
        </p:spPr>
        <p:txBody>
          <a:bodyPr lIns="0" tIns="0" rIns="0" bIns="0" rtlCol="0" anchor="t">
            <a:spAutoFit/>
          </a:bodyPr>
          <a:lstStyle/>
          <a:p>
            <a:pPr algn="l">
              <a:lnSpc>
                <a:spcPts val="3120"/>
              </a:lnSpc>
              <a:spcBef>
                <a:spcPct val="0"/>
              </a:spcBef>
            </a:pPr>
            <a:r>
              <a:rPr lang="en-US" sz="2230">
                <a:solidFill>
                  <a:srgbClr val="E5E1DA"/>
                </a:solidFill>
                <a:latin typeface="Lato" panose="020F0502020204030203"/>
                <a:ea typeface="Lato" panose="020F0502020204030203"/>
                <a:cs typeface="Lato" panose="020F0502020204030203"/>
                <a:sym typeface="Lato" panose="020F0502020204030203"/>
              </a:rPr>
              <a:t>ID: EDU-2026-294</a:t>
            </a:r>
            <a:endParaRPr lang="en-US" sz="2230">
              <a:solidFill>
                <a:srgbClr val="E5E1DA"/>
              </a:solidFill>
              <a:latin typeface="Lato" panose="020F0502020204030203"/>
              <a:ea typeface="Lato" panose="020F0502020204030203"/>
              <a:cs typeface="Lato" panose="020F0502020204030203"/>
              <a:sym typeface="Lato" panose="020F0502020204030203"/>
            </a:endParaRPr>
          </a:p>
        </p:txBody>
      </p:sp>
      <p:sp>
        <p:nvSpPr>
          <p:cNvPr id="8" name="TextBox 8"/>
          <p:cNvSpPr txBox="1"/>
          <p:nvPr/>
        </p:nvSpPr>
        <p:spPr>
          <a:xfrm>
            <a:off x="8509211" y="8870127"/>
            <a:ext cx="4179173" cy="388173"/>
          </a:xfrm>
          <a:prstGeom prst="rect">
            <a:avLst/>
          </a:prstGeom>
        </p:spPr>
        <p:txBody>
          <a:bodyPr lIns="0" tIns="0" rIns="0" bIns="0" rtlCol="0" anchor="t">
            <a:spAutoFit/>
          </a:bodyPr>
          <a:lstStyle/>
          <a:p>
            <a:pPr algn="l">
              <a:lnSpc>
                <a:spcPts val="3120"/>
              </a:lnSpc>
              <a:spcBef>
                <a:spcPct val="0"/>
              </a:spcBef>
            </a:pPr>
            <a:r>
              <a:rPr lang="en-US" sz="2230">
                <a:solidFill>
                  <a:srgbClr val="E5E1DA"/>
                </a:solidFill>
                <a:latin typeface="Lato" panose="020F0502020204030203"/>
                <a:ea typeface="Lato" panose="020F0502020204030203"/>
                <a:cs typeface="Lato" panose="020F0502020204030203"/>
                <a:sym typeface="Lato" panose="020F0502020204030203"/>
              </a:rPr>
              <a:t> Duration:  8-6-2026 - 8-8-2026</a:t>
            </a:r>
            <a:endParaRPr lang="en-US" sz="2230">
              <a:solidFill>
                <a:srgbClr val="E5E1DA"/>
              </a:solidFill>
              <a:latin typeface="Lato" panose="020F0502020204030203"/>
              <a:ea typeface="Lato" panose="020F0502020204030203"/>
              <a:cs typeface="Lato" panose="020F0502020204030203"/>
              <a:sym typeface="Lato" panose="020F0502020204030203"/>
            </a:endParaRPr>
          </a:p>
        </p:txBody>
      </p:sp>
      <p:sp>
        <p:nvSpPr>
          <p:cNvPr id="9" name="TextBox 9"/>
          <p:cNvSpPr txBox="1"/>
          <p:nvPr/>
        </p:nvSpPr>
        <p:spPr>
          <a:xfrm>
            <a:off x="4458335" y="6224270"/>
            <a:ext cx="9077325" cy="771525"/>
          </a:xfrm>
          <a:prstGeom prst="rect">
            <a:avLst/>
          </a:prstGeom>
        </p:spPr>
        <p:txBody>
          <a:bodyPr wrap="square" lIns="0" tIns="0" rIns="0" bIns="0" rtlCol="0" anchor="t">
            <a:spAutoFit/>
          </a:bodyPr>
          <a:lstStyle/>
          <a:p>
            <a:pPr algn="just">
              <a:lnSpc>
                <a:spcPts val="6020"/>
              </a:lnSpc>
            </a:pPr>
            <a:r>
              <a:rPr lang="en-US" sz="4300" b="1">
                <a:solidFill>
                  <a:srgbClr val="FFFFFF"/>
                </a:solidFill>
                <a:latin typeface="Canva Sans Bold" panose="020B0803030501040103"/>
                <a:ea typeface="Canva Sans Bold" panose="020B0803030501040103"/>
                <a:cs typeface="Canva Sans Bold" panose="020B0803030501040103"/>
                <a:sym typeface="Canva Sans Bold" panose="020B0803030501040103"/>
              </a:rPr>
              <a:t>Employee Attrition Analysis</a:t>
            </a:r>
            <a:endParaRPr lang="en-US" sz="4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rot="0">
            <a:off x="1028700" y="1692000"/>
            <a:ext cx="15052218" cy="8236081"/>
            <a:chOff x="0" y="0"/>
            <a:chExt cx="3964370" cy="2169174"/>
          </a:xfrm>
        </p:grpSpPr>
        <p:sp>
          <p:nvSpPr>
            <p:cNvPr id="6" name="Freeform 6"/>
            <p:cNvSpPr/>
            <p:nvPr/>
          </p:nvSpPr>
          <p:spPr>
            <a:xfrm>
              <a:off x="0" y="0"/>
              <a:ext cx="3964370" cy="2169174"/>
            </a:xfrm>
            <a:custGeom>
              <a:avLst/>
              <a:gdLst/>
              <a:ahLst/>
              <a:cxnLst/>
              <a:rect l="l" t="t" r="r" b="b"/>
              <a:pathLst>
                <a:path w="3964370" h="2169174">
                  <a:moveTo>
                    <a:pt x="10287" y="0"/>
                  </a:moveTo>
                  <a:lnTo>
                    <a:pt x="3954083" y="0"/>
                  </a:lnTo>
                  <a:cubicBezTo>
                    <a:pt x="3959765" y="0"/>
                    <a:pt x="3964370" y="4606"/>
                    <a:pt x="3964370" y="10287"/>
                  </a:cubicBezTo>
                  <a:lnTo>
                    <a:pt x="3964370" y="2158887"/>
                  </a:lnTo>
                  <a:cubicBezTo>
                    <a:pt x="3964370" y="2161615"/>
                    <a:pt x="3963286" y="2164231"/>
                    <a:pt x="3961357" y="2166161"/>
                  </a:cubicBezTo>
                  <a:cubicBezTo>
                    <a:pt x="3959428" y="2168090"/>
                    <a:pt x="3956812" y="2169174"/>
                    <a:pt x="3954083" y="2169174"/>
                  </a:cubicBezTo>
                  <a:lnTo>
                    <a:pt x="10287" y="2169174"/>
                  </a:lnTo>
                  <a:cubicBezTo>
                    <a:pt x="4606" y="2169174"/>
                    <a:pt x="0" y="2164568"/>
                    <a:pt x="0" y="2158887"/>
                  </a:cubicBezTo>
                  <a:lnTo>
                    <a:pt x="0" y="10287"/>
                  </a:lnTo>
                  <a:cubicBezTo>
                    <a:pt x="0" y="4606"/>
                    <a:pt x="4606" y="0"/>
                    <a:pt x="10287"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3964370" cy="2207274"/>
            </a:xfrm>
            <a:prstGeom prst="rect">
              <a:avLst/>
            </a:prstGeom>
          </p:spPr>
          <p:txBody>
            <a:bodyPr lIns="50800" tIns="50800" rIns="50800" bIns="50800" rtlCol="0" anchor="ctr"/>
            <a:lstStyle/>
            <a:p>
              <a:pPr algn="ctr">
                <a:lnSpc>
                  <a:spcPts val="2660"/>
                </a:lnSpc>
              </a:pPr>
            </a:p>
          </p:txBody>
        </p:sp>
      </p:grpSp>
      <p:sp>
        <p:nvSpPr>
          <p:cNvPr id="8" name="Freeform 8"/>
          <p:cNvSpPr/>
          <p:nvPr/>
        </p:nvSpPr>
        <p:spPr>
          <a:xfrm>
            <a:off x="14993027" y="291240"/>
            <a:ext cx="2739706" cy="1122519"/>
          </a:xfrm>
          <a:custGeom>
            <a:avLst/>
            <a:gdLst/>
            <a:ahLst/>
            <a:cxnLst/>
            <a:rect l="l" t="t" r="r" b="b"/>
            <a:pathLst>
              <a:path w="2739706" h="1122519">
                <a:moveTo>
                  <a:pt x="0" y="0"/>
                </a:moveTo>
                <a:lnTo>
                  <a:pt x="2739706" y="0"/>
                </a:lnTo>
                <a:lnTo>
                  <a:pt x="2739706" y="1122518"/>
                </a:lnTo>
                <a:lnTo>
                  <a:pt x="0" y="1122518"/>
                </a:lnTo>
                <a:lnTo>
                  <a:pt x="0" y="0"/>
                </a:lnTo>
                <a:close/>
              </a:path>
            </a:pathLst>
          </a:custGeom>
          <a:blipFill>
            <a:blip r:embed="rId4"/>
            <a:stretch>
              <a:fillRect/>
            </a:stretch>
          </a:blipFill>
        </p:spPr>
      </p:sp>
      <p:sp>
        <p:nvSpPr>
          <p:cNvPr id="9" name="TextBox 9"/>
          <p:cNvSpPr txBox="1"/>
          <p:nvPr/>
        </p:nvSpPr>
        <p:spPr>
          <a:xfrm>
            <a:off x="1617345" y="2024380"/>
            <a:ext cx="9702165"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Project Timeline Presentation</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1752600" y="3094990"/>
            <a:ext cx="11428095" cy="896620"/>
          </a:xfrm>
          <a:prstGeom prst="rect">
            <a:avLst/>
          </a:prstGeom>
        </p:spPr>
        <p:txBody>
          <a:bodyPr wrap="square" lIns="0" tIns="0" rIns="0" bIns="0" rtlCol="0" anchor="t">
            <a:no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 1 - Project Planning &amp; Dataset Collection</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algn="ctr">
              <a:lnSpc>
                <a:spcPts val="4480"/>
              </a:lnSpc>
            </a:pPr>
          </a:p>
        </p:txBody>
      </p:sp>
      <p:sp>
        <p:nvSpPr>
          <p:cNvPr id="11" name="TextBox 11"/>
          <p:cNvSpPr txBox="1"/>
          <p:nvPr/>
        </p:nvSpPr>
        <p:spPr>
          <a:xfrm>
            <a:off x="1722120" y="3916680"/>
            <a:ext cx="10069830" cy="610235"/>
          </a:xfrm>
          <a:prstGeom prst="rect">
            <a:avLst/>
          </a:prstGeom>
        </p:spPr>
        <p:txBody>
          <a:bodyPr wrap="square" lIns="0" tIns="0" rIns="0" bIns="0" rtlCol="0" anchor="t">
            <a:sp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a:t>
            </a:r>
            <a:r>
              <a:rPr lang="en-US" sz="3400">
                <a:solidFill>
                  <a:srgbClr val="FFFFFF"/>
                </a:solidFill>
                <a:latin typeface="Canva Sans" panose="020B0503030501040103"/>
                <a:ea typeface="Canva Sans" panose="020B0503030501040103"/>
                <a:cs typeface="Canva Sans" panose="020B0503030501040103"/>
                <a:sym typeface="Canva Sans" panose="020B0503030501040103"/>
              </a:rPr>
              <a:t> 2 - Data Cleaning &amp; Preprocessing</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2" name="TextBox 12"/>
          <p:cNvSpPr txBox="1"/>
          <p:nvPr/>
        </p:nvSpPr>
        <p:spPr>
          <a:xfrm>
            <a:off x="2743029" y="4762499"/>
            <a:ext cx="8326993" cy="580390"/>
          </a:xfrm>
          <a:prstGeom prst="rect">
            <a:avLst/>
          </a:prstGeom>
        </p:spPr>
        <p:txBody>
          <a:bodyPr lIns="0" tIns="0" rIns="0" bIns="0" rtlCol="0" anchor="t">
            <a:sp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 3 - Exploratory Data Analysis(EDA)</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3" name="TextBox 13"/>
          <p:cNvSpPr txBox="1"/>
          <p:nvPr/>
        </p:nvSpPr>
        <p:spPr>
          <a:xfrm>
            <a:off x="2666948" y="5524499"/>
            <a:ext cx="9889333" cy="580390"/>
          </a:xfrm>
          <a:prstGeom prst="rect">
            <a:avLst/>
          </a:prstGeom>
        </p:spPr>
        <p:txBody>
          <a:bodyPr lIns="0" tIns="0" rIns="0" bIns="0" rtlCol="0" anchor="t">
            <a:sp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 4 - Label Encoding &amp; Feature Preparation</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4" name="TextBox 14"/>
          <p:cNvSpPr txBox="1"/>
          <p:nvPr/>
        </p:nvSpPr>
        <p:spPr>
          <a:xfrm>
            <a:off x="1981200" y="6362700"/>
            <a:ext cx="6593840" cy="610235"/>
          </a:xfrm>
          <a:prstGeom prst="rect">
            <a:avLst/>
          </a:prstGeom>
        </p:spPr>
        <p:txBody>
          <a:bodyPr wrap="square" lIns="0" tIns="0" rIns="0" bIns="0" rtlCol="0" anchor="t">
            <a:sp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 5 - Model Training</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5" name="TextBox 15"/>
          <p:cNvSpPr txBox="1"/>
          <p:nvPr/>
        </p:nvSpPr>
        <p:spPr>
          <a:xfrm>
            <a:off x="1905000" y="7124700"/>
            <a:ext cx="9812655" cy="610235"/>
          </a:xfrm>
          <a:prstGeom prst="rect">
            <a:avLst/>
          </a:prstGeom>
        </p:spPr>
        <p:txBody>
          <a:bodyPr wrap="square" lIns="0" tIns="0" rIns="0" bIns="0" rtlCol="0" anchor="t">
            <a:sp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 6 - Model Evaluation &amp; Prediction</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6" name="TextBox 16"/>
          <p:cNvSpPr txBox="1"/>
          <p:nvPr/>
        </p:nvSpPr>
        <p:spPr>
          <a:xfrm>
            <a:off x="2666829" y="7962826"/>
            <a:ext cx="9644420" cy="580390"/>
          </a:xfrm>
          <a:prstGeom prst="rect">
            <a:avLst/>
          </a:prstGeom>
        </p:spPr>
        <p:txBody>
          <a:bodyPr lIns="0" tIns="0" rIns="0" bIns="0" rtlCol="0" anchor="t">
            <a:sp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 7 - Report Preparation &amp; Documentation </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7" name="TextBox 17"/>
          <p:cNvSpPr txBox="1"/>
          <p:nvPr/>
        </p:nvSpPr>
        <p:spPr>
          <a:xfrm>
            <a:off x="1828800" y="8797290"/>
            <a:ext cx="10187940" cy="610235"/>
          </a:xfrm>
          <a:prstGeom prst="rect">
            <a:avLst/>
          </a:prstGeom>
        </p:spPr>
        <p:txBody>
          <a:bodyPr wrap="square" lIns="0" tIns="0" rIns="0" bIns="0" rtlCol="0" anchor="t">
            <a:spAutoFit/>
          </a:bodyPr>
          <a:lstStyle/>
          <a:p>
            <a:pPr algn="ctr">
              <a:lnSpc>
                <a:spcPts val="4760"/>
              </a:lnSpc>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Week 8 - PPT Presentation &amp; Submission</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grpSp>
        <p:nvGrpSpPr>
          <p:cNvPr id="4" name="Group 4"/>
          <p:cNvGrpSpPr/>
          <p:nvPr/>
        </p:nvGrpSpPr>
        <p:grpSpPr>
          <a:xfrm rot="0">
            <a:off x="821782" y="1417325"/>
            <a:ext cx="15214069" cy="8126031"/>
            <a:chOff x="0" y="0"/>
            <a:chExt cx="3986353" cy="2129163"/>
          </a:xfrm>
        </p:grpSpPr>
        <p:sp>
          <p:nvSpPr>
            <p:cNvPr id="5" name="Freeform 5"/>
            <p:cNvSpPr/>
            <p:nvPr/>
          </p:nvSpPr>
          <p:spPr>
            <a:xfrm>
              <a:off x="0" y="0"/>
              <a:ext cx="3986353" cy="2129163"/>
            </a:xfrm>
            <a:custGeom>
              <a:avLst/>
              <a:gdLst/>
              <a:ahLst/>
              <a:cxnLst/>
              <a:rect l="l" t="t" r="r" b="b"/>
              <a:pathLst>
                <a:path w="3986353" h="2129163">
                  <a:moveTo>
                    <a:pt x="10177" y="0"/>
                  </a:moveTo>
                  <a:lnTo>
                    <a:pt x="3976176" y="0"/>
                  </a:lnTo>
                  <a:cubicBezTo>
                    <a:pt x="3981796" y="0"/>
                    <a:pt x="3986353" y="4557"/>
                    <a:pt x="3986353" y="10177"/>
                  </a:cubicBezTo>
                  <a:lnTo>
                    <a:pt x="3986353" y="2118986"/>
                  </a:lnTo>
                  <a:cubicBezTo>
                    <a:pt x="3986353" y="2124606"/>
                    <a:pt x="3981796" y="2129163"/>
                    <a:pt x="3976176" y="2129163"/>
                  </a:cubicBezTo>
                  <a:lnTo>
                    <a:pt x="10177" y="2129163"/>
                  </a:lnTo>
                  <a:cubicBezTo>
                    <a:pt x="4557" y="2129163"/>
                    <a:pt x="0" y="2124606"/>
                    <a:pt x="0" y="2118986"/>
                  </a:cubicBezTo>
                  <a:lnTo>
                    <a:pt x="0" y="10177"/>
                  </a:lnTo>
                  <a:cubicBezTo>
                    <a:pt x="0" y="4557"/>
                    <a:pt x="4557" y="0"/>
                    <a:pt x="10177"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3986353" cy="2167263"/>
            </a:xfrm>
            <a:prstGeom prst="rect">
              <a:avLst/>
            </a:prstGeom>
          </p:spPr>
          <p:txBody>
            <a:bodyPr lIns="51063" tIns="51063" rIns="51063" bIns="51063" rtlCol="0" anchor="ctr"/>
            <a:lstStyle/>
            <a:p>
              <a:pPr algn="ctr">
                <a:lnSpc>
                  <a:spcPts val="2660"/>
                </a:lnSpc>
              </a:pPr>
            </a:p>
          </p:txBody>
        </p:sp>
      </p:grpSp>
      <p:sp>
        <p:nvSpPr>
          <p:cNvPr id="7" name="Freeform 7"/>
          <p:cNvSpPr/>
          <p:nvPr/>
        </p:nvSpPr>
        <p:spPr>
          <a:xfrm>
            <a:off x="16500433" y="8222333"/>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4657147" y="10024"/>
            <a:ext cx="2739706" cy="1122519"/>
          </a:xfrm>
          <a:custGeom>
            <a:avLst/>
            <a:gdLst/>
            <a:ahLst/>
            <a:cxnLst/>
            <a:rect l="l" t="t" r="r" b="b"/>
            <a:pathLst>
              <a:path w="2739706" h="1122519">
                <a:moveTo>
                  <a:pt x="0" y="0"/>
                </a:moveTo>
                <a:lnTo>
                  <a:pt x="2739706" y="0"/>
                </a:lnTo>
                <a:lnTo>
                  <a:pt x="2739706" y="1122518"/>
                </a:lnTo>
                <a:lnTo>
                  <a:pt x="0" y="1122518"/>
                </a:lnTo>
                <a:lnTo>
                  <a:pt x="0" y="0"/>
                </a:lnTo>
                <a:close/>
              </a:path>
            </a:pathLst>
          </a:custGeom>
          <a:blipFill>
            <a:blip r:embed="rId4"/>
            <a:stretch>
              <a:fillRect/>
            </a:stretch>
          </a:blipFill>
        </p:spPr>
      </p:sp>
      <p:sp>
        <p:nvSpPr>
          <p:cNvPr id="9" name="TextBox 9"/>
          <p:cNvSpPr txBox="1"/>
          <p:nvPr/>
        </p:nvSpPr>
        <p:spPr>
          <a:xfrm>
            <a:off x="1450975" y="1861820"/>
            <a:ext cx="3174365"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Contents:</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1028700" y="3075305"/>
            <a:ext cx="6781800" cy="5493385"/>
          </a:xfrm>
          <a:prstGeom prst="rect">
            <a:avLst/>
          </a:prstGeom>
        </p:spPr>
        <p:txBody>
          <a:bodyPr wrap="square" lIns="0" tIns="0" rIns="0" bIns="0" rtlCol="0" anchor="t">
            <a:spAutoFit/>
          </a:bodyPr>
          <a:lstStyle/>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Introduction</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Company Overview</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Objectives</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Project Overview</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Methodology</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Tools &amp; Technologies</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Output</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Challenges &amp; Learning</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a:p>
            <a:pPr marL="734060" lvl="1" indent="-367030" algn="l">
              <a:lnSpc>
                <a:spcPts val="4760"/>
              </a:lnSpc>
              <a:buAutoNum type="arabicPeriod"/>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Conclusion &amp; Future Scope</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sp>
        <p:nvSpPr>
          <p:cNvPr id="17" name="Freeform 17"/>
          <p:cNvSpPr/>
          <p:nvPr/>
        </p:nvSpPr>
        <p:spPr>
          <a:xfrm>
            <a:off x="15002101" y="93687"/>
            <a:ext cx="2739706" cy="1122519"/>
          </a:xfrm>
          <a:custGeom>
            <a:avLst/>
            <a:gdLst/>
            <a:ahLst/>
            <a:cxnLst/>
            <a:rect l="l" t="t" r="r" b="b"/>
            <a:pathLst>
              <a:path w="2739706" h="1122519">
                <a:moveTo>
                  <a:pt x="0" y="0"/>
                </a:moveTo>
                <a:lnTo>
                  <a:pt x="2739706" y="0"/>
                </a:lnTo>
                <a:lnTo>
                  <a:pt x="2739706" y="1122519"/>
                </a:lnTo>
                <a:lnTo>
                  <a:pt x="0" y="1122519"/>
                </a:lnTo>
                <a:lnTo>
                  <a:pt x="0" y="0"/>
                </a:lnTo>
                <a:close/>
              </a:path>
            </a:pathLst>
          </a:custGeom>
          <a:blipFill>
            <a:blip r:embed="rId2"/>
            <a:stretch>
              <a:fillRect/>
            </a:stretch>
          </a:blipFill>
        </p:spPr>
      </p:sp>
      <p:grpSp>
        <p:nvGrpSpPr>
          <p:cNvPr id="29" name="Group 29"/>
          <p:cNvGrpSpPr/>
          <p:nvPr/>
        </p:nvGrpSpPr>
        <p:grpSpPr>
          <a:xfrm rot="0">
            <a:off x="12304561" y="6069628"/>
            <a:ext cx="5395079" cy="7665022"/>
            <a:chOff x="0" y="6044900"/>
            <a:chExt cx="7193439" cy="10220030"/>
          </a:xfrm>
        </p:grpSpPr>
        <p:sp>
          <p:nvSpPr>
            <p:cNvPr id="30" name="Freeform 30"/>
            <p:cNvSpPr/>
            <p:nvPr/>
          </p:nvSpPr>
          <p:spPr>
            <a:xfrm>
              <a:off x="5998212" y="15069703"/>
              <a:ext cx="1195227" cy="1195227"/>
            </a:xfrm>
            <a:custGeom>
              <a:avLst/>
              <a:gdLst/>
              <a:ahLst/>
              <a:cxnLst/>
              <a:rect l="l" t="t" r="r" b="b"/>
              <a:pathLst>
                <a:path w="1195227" h="1195227">
                  <a:moveTo>
                    <a:pt x="0" y="0"/>
                  </a:moveTo>
                  <a:lnTo>
                    <a:pt x="1195227" y="0"/>
                  </a:lnTo>
                  <a:lnTo>
                    <a:pt x="1195227" y="1195227"/>
                  </a:lnTo>
                  <a:lnTo>
                    <a:pt x="0" y="11952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2" name="Group 32"/>
            <p:cNvGrpSpPr/>
            <p:nvPr/>
          </p:nvGrpSpPr>
          <p:grpSpPr>
            <a:xfrm rot="-5400000">
              <a:off x="0" y="13625970"/>
              <a:ext cx="526312" cy="5263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34" name="TextBox 34"/>
              <p:cNvSpPr txBox="1"/>
              <p:nvPr/>
            </p:nvSpPr>
            <p:spPr>
              <a:xfrm>
                <a:off x="190500" y="228600"/>
                <a:ext cx="431800" cy="393700"/>
              </a:xfrm>
              <a:prstGeom prst="rect">
                <a:avLst/>
              </a:prstGeom>
            </p:spPr>
            <p:txBody>
              <a:bodyPr lIns="50800" tIns="50800" rIns="50800" bIns="50800" rtlCol="0" anchor="ctr"/>
              <a:lstStyle/>
              <a:p>
                <a:pPr marL="0" lvl="0" indent="0" algn="ctr">
                  <a:lnSpc>
                    <a:spcPts val="2265"/>
                  </a:lnSpc>
                  <a:spcBef>
                    <a:spcPct val="0"/>
                  </a:spcBef>
                </a:pPr>
              </a:p>
            </p:txBody>
          </p:sp>
        </p:grpSp>
        <p:grpSp>
          <p:nvGrpSpPr>
            <p:cNvPr id="38" name="Group 38"/>
            <p:cNvGrpSpPr/>
            <p:nvPr/>
          </p:nvGrpSpPr>
          <p:grpSpPr>
            <a:xfrm rot="-5400000">
              <a:off x="0" y="6044900"/>
              <a:ext cx="526312" cy="52631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40" name="TextBox 40"/>
              <p:cNvSpPr txBox="1"/>
              <p:nvPr/>
            </p:nvSpPr>
            <p:spPr>
              <a:xfrm>
                <a:off x="190500" y="228600"/>
                <a:ext cx="431800" cy="393700"/>
              </a:xfrm>
              <a:prstGeom prst="rect">
                <a:avLst/>
              </a:prstGeom>
            </p:spPr>
            <p:txBody>
              <a:bodyPr lIns="50800" tIns="50800" rIns="50800" bIns="50800" rtlCol="0" anchor="ctr"/>
              <a:lstStyle/>
              <a:p>
                <a:pPr marL="0" lvl="0" indent="0" algn="ctr">
                  <a:lnSpc>
                    <a:spcPts val="2265"/>
                  </a:lnSpc>
                  <a:spcBef>
                    <a:spcPct val="0"/>
                  </a:spcBef>
                </a:pPr>
              </a:p>
            </p:txBody>
          </p:sp>
        </p:grpSp>
      </p:grpSp>
      <p:sp>
        <p:nvSpPr>
          <p:cNvPr id="41" name="TextBox 41"/>
          <p:cNvSpPr txBox="1"/>
          <p:nvPr/>
        </p:nvSpPr>
        <p:spPr>
          <a:xfrm>
            <a:off x="1080135" y="371475"/>
            <a:ext cx="4171315"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Intoduction :</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2" name="TextBox 42"/>
          <p:cNvSpPr txBox="1"/>
          <p:nvPr/>
        </p:nvSpPr>
        <p:spPr>
          <a:xfrm>
            <a:off x="1028700" y="1595755"/>
            <a:ext cx="5151755" cy="592455"/>
          </a:xfrm>
          <a:prstGeom prst="rect">
            <a:avLst/>
          </a:prstGeom>
        </p:spPr>
        <p:txBody>
          <a:bodyPr wrap="square" lIns="0" tIns="0" rIns="0" bIns="0" rtlCol="0" anchor="t">
            <a:spAutoFit/>
          </a:bodyPr>
          <a:lstStyle/>
          <a:p>
            <a:pPr algn="ctr">
              <a:lnSpc>
                <a:spcPts val="4620"/>
              </a:lnSpc>
            </a:pPr>
            <a:r>
              <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rPr>
              <a:t>Internship Overview:</a:t>
            </a:r>
            <a:endPar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3" name="TextBox 43"/>
          <p:cNvSpPr txBox="1"/>
          <p:nvPr/>
        </p:nvSpPr>
        <p:spPr>
          <a:xfrm>
            <a:off x="1070610" y="2247778"/>
            <a:ext cx="6056829" cy="7520939"/>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Domain: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DataScience / HR Analytics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Company: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EduTech Solutions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Project: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Employee Attrition Analysis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Using ML</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Focus Areas: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Data PreProcessing, EDA,</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Feature Engineering, Model</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Evaluation, ML</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Outcome:</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Developed a Pedictive model to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identify employees lkelt to leave</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organization and gained practical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experience in HR Analytics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Guided by the Internship mentor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throughtout the project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44" name="TextBox 44"/>
          <p:cNvSpPr txBox="1"/>
          <p:nvPr/>
        </p:nvSpPr>
        <p:spPr>
          <a:xfrm>
            <a:off x="7115354" y="1595685"/>
            <a:ext cx="4267557" cy="563879"/>
          </a:xfrm>
          <a:prstGeom prst="rect">
            <a:avLst/>
          </a:prstGeom>
        </p:spPr>
        <p:txBody>
          <a:bodyPr lIns="0" tIns="0" rIns="0" bIns="0" rtlCol="0" anchor="t">
            <a:spAutoFit/>
          </a:bodyPr>
          <a:lstStyle/>
          <a:p>
            <a:pPr algn="ctr">
              <a:lnSpc>
                <a:spcPts val="4620"/>
              </a:lnSpc>
            </a:pPr>
            <a:r>
              <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rPr>
              <a:t>Project Purpose:</a:t>
            </a:r>
            <a:endPar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5" name="TextBox 45"/>
          <p:cNvSpPr txBox="1"/>
          <p:nvPr/>
        </p:nvSpPr>
        <p:spPr>
          <a:xfrm>
            <a:off x="7324786" y="2628787"/>
            <a:ext cx="5090839" cy="5185792"/>
          </a:xfrm>
          <a:prstGeom prst="rect">
            <a:avLst/>
          </a:prstGeom>
        </p:spPr>
        <p:txBody>
          <a:bodyPr lIns="0" tIns="0" rIns="0" bIns="0" rtlCol="0" anchor="t">
            <a:spAutoFit/>
          </a:bodyPr>
          <a:lstStyle/>
          <a:p>
            <a:pPr marL="518160" lvl="1" indent="-259080" algn="l">
              <a:lnSpc>
                <a:spcPts val="2470"/>
              </a:lnSpc>
              <a:buFont typeface="Arial" panose="020B0604020202020204"/>
              <a:buChar char="•"/>
            </a:pPr>
            <a:r>
              <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rPr>
              <a:t>Analyze employee data to identify the key factors affecting attrition.</a:t>
            </a:r>
            <a:endPar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endParaRPr>
          </a:p>
          <a:p>
            <a:pPr algn="l">
              <a:lnSpc>
                <a:spcPts val="2470"/>
              </a:lnSpc>
            </a:pPr>
          </a:p>
          <a:p>
            <a:pPr algn="l">
              <a:lnSpc>
                <a:spcPts val="2470"/>
              </a:lnSpc>
            </a:pPr>
          </a:p>
          <a:p>
            <a:pPr marL="518160" lvl="1" indent="-259080" algn="l">
              <a:lnSpc>
                <a:spcPts val="2470"/>
              </a:lnSpc>
              <a:buFont typeface="Arial" panose="020B0604020202020204"/>
              <a:buChar char="•"/>
            </a:pPr>
            <a:r>
              <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rPr>
              <a:t>Build a machine learning model to predict employee attrition.</a:t>
            </a:r>
            <a:endPar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endParaRPr>
          </a:p>
          <a:p>
            <a:pPr algn="l">
              <a:lnSpc>
                <a:spcPts val="2470"/>
              </a:lnSpc>
            </a:pPr>
          </a:p>
          <a:p>
            <a:pPr algn="l">
              <a:lnSpc>
                <a:spcPts val="2470"/>
              </a:lnSpc>
            </a:pPr>
          </a:p>
          <a:p>
            <a:pPr marL="518160" lvl="1" indent="-259080" algn="l">
              <a:lnSpc>
                <a:spcPts val="2470"/>
              </a:lnSpc>
              <a:buFont typeface="Arial" panose="020B0604020202020204"/>
              <a:buChar char="•"/>
            </a:pPr>
            <a:r>
              <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rPr>
              <a:t>Improve employee retention using data-driven insights.</a:t>
            </a:r>
            <a:endPar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endParaRPr>
          </a:p>
          <a:p>
            <a:pPr algn="l">
              <a:lnSpc>
                <a:spcPts val="2470"/>
              </a:lnSpc>
            </a:pPr>
          </a:p>
          <a:p>
            <a:pPr algn="l">
              <a:lnSpc>
                <a:spcPts val="2470"/>
              </a:lnSpc>
            </a:pPr>
          </a:p>
          <a:p>
            <a:pPr marL="518160" lvl="1" indent="-259080" algn="l">
              <a:lnSpc>
                <a:spcPts val="2470"/>
              </a:lnSpc>
              <a:buFont typeface="Arial" panose="020B0604020202020204"/>
              <a:buChar char="•"/>
            </a:pPr>
            <a:r>
              <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rPr>
              <a:t>Evaluate model performance using accuracy and classification metrics.</a:t>
            </a:r>
            <a:endParaRPr lang="en-US" sz="2400" spc="170">
              <a:solidFill>
                <a:srgbClr val="FFFFFF"/>
              </a:solidFill>
              <a:latin typeface="Red Hat Display" panose="02010503040201060303"/>
              <a:ea typeface="Red Hat Display" panose="02010503040201060303"/>
              <a:cs typeface="Red Hat Display" panose="02010503040201060303"/>
              <a:sym typeface="Red Hat Display" panose="02010503040201060303"/>
            </a:endParaRPr>
          </a:p>
        </p:txBody>
      </p:sp>
      <p:sp>
        <p:nvSpPr>
          <p:cNvPr id="46" name="TextBox 46"/>
          <p:cNvSpPr txBox="1"/>
          <p:nvPr/>
        </p:nvSpPr>
        <p:spPr>
          <a:xfrm>
            <a:off x="12415520" y="1638300"/>
            <a:ext cx="5081905" cy="592455"/>
          </a:xfrm>
          <a:prstGeom prst="rect">
            <a:avLst/>
          </a:prstGeom>
        </p:spPr>
        <p:txBody>
          <a:bodyPr wrap="square" lIns="0" tIns="0" rIns="0" bIns="0" rtlCol="0" anchor="t">
            <a:spAutoFit/>
          </a:bodyPr>
          <a:lstStyle/>
          <a:p>
            <a:pPr algn="ctr">
              <a:lnSpc>
                <a:spcPts val="4620"/>
              </a:lnSpc>
            </a:pPr>
            <a:r>
              <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rPr>
              <a:t> Domain Relevance:</a:t>
            </a:r>
            <a:endPar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7" name="TextBox 47"/>
          <p:cNvSpPr txBox="1"/>
          <p:nvPr/>
        </p:nvSpPr>
        <p:spPr>
          <a:xfrm>
            <a:off x="12613192" y="2536077"/>
            <a:ext cx="5674808" cy="6682739"/>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HR</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 Analytics helps organizations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understand employee behavior</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 and reduce attrition.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Machine Learning enables early prediction of employees who are likely to leave.</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Employee attrition prediction supports better workforce planning and retention strategies.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This project demonstrates practical applications of Data Science in Human Resource Management.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48" name="Freeform 48"/>
          <p:cNvSpPr/>
          <p:nvPr/>
        </p:nvSpPr>
        <p:spPr>
          <a:xfrm>
            <a:off x="17251430" y="9218817"/>
            <a:ext cx="896420" cy="896420"/>
          </a:xfrm>
          <a:custGeom>
            <a:avLst/>
            <a:gdLst/>
            <a:ahLst/>
            <a:cxnLst/>
            <a:rect l="l" t="t" r="r" b="b"/>
            <a:pathLst>
              <a:path w="896420" h="896420">
                <a:moveTo>
                  <a:pt x="0" y="0"/>
                </a:moveTo>
                <a:lnTo>
                  <a:pt x="896421" y="0"/>
                </a:lnTo>
                <a:lnTo>
                  <a:pt x="896421" y="896420"/>
                </a:lnTo>
                <a:lnTo>
                  <a:pt x="0" y="8964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grpSp>
        <p:nvGrpSpPr>
          <p:cNvPr id="4" name="Group 4"/>
          <p:cNvGrpSpPr/>
          <p:nvPr/>
        </p:nvGrpSpPr>
        <p:grpSpPr>
          <a:xfrm rot="0">
            <a:off x="1028700" y="1541640"/>
            <a:ext cx="8622553" cy="8333579"/>
            <a:chOff x="0" y="0"/>
            <a:chExt cx="2270961" cy="2194852"/>
          </a:xfrm>
        </p:grpSpPr>
        <p:sp>
          <p:nvSpPr>
            <p:cNvPr id="5" name="Freeform 5"/>
            <p:cNvSpPr/>
            <p:nvPr/>
          </p:nvSpPr>
          <p:spPr>
            <a:xfrm>
              <a:off x="0" y="0"/>
              <a:ext cx="2270961" cy="2194852"/>
            </a:xfrm>
            <a:custGeom>
              <a:avLst/>
              <a:gdLst/>
              <a:ahLst/>
              <a:cxnLst/>
              <a:rect l="l" t="t" r="r" b="b"/>
              <a:pathLst>
                <a:path w="2270961" h="2194852">
                  <a:moveTo>
                    <a:pt x="17957" y="0"/>
                  </a:moveTo>
                  <a:lnTo>
                    <a:pt x="2253003" y="0"/>
                  </a:lnTo>
                  <a:cubicBezTo>
                    <a:pt x="2257766" y="0"/>
                    <a:pt x="2262333" y="1892"/>
                    <a:pt x="2265701" y="5260"/>
                  </a:cubicBezTo>
                  <a:cubicBezTo>
                    <a:pt x="2269069" y="8627"/>
                    <a:pt x="2270961" y="13195"/>
                    <a:pt x="2270961" y="17957"/>
                  </a:cubicBezTo>
                  <a:lnTo>
                    <a:pt x="2270961" y="2176895"/>
                  </a:lnTo>
                  <a:cubicBezTo>
                    <a:pt x="2270961" y="2181657"/>
                    <a:pt x="2269069" y="2186225"/>
                    <a:pt x="2265701" y="2189593"/>
                  </a:cubicBezTo>
                  <a:cubicBezTo>
                    <a:pt x="2262333" y="2192960"/>
                    <a:pt x="2257766" y="2194852"/>
                    <a:pt x="2253003" y="2194852"/>
                  </a:cubicBezTo>
                  <a:lnTo>
                    <a:pt x="17957" y="2194852"/>
                  </a:lnTo>
                  <a:cubicBezTo>
                    <a:pt x="8040" y="2194852"/>
                    <a:pt x="0" y="2186812"/>
                    <a:pt x="0" y="2176895"/>
                  </a:cubicBezTo>
                  <a:lnTo>
                    <a:pt x="0" y="17957"/>
                  </a:lnTo>
                  <a:cubicBezTo>
                    <a:pt x="0" y="13195"/>
                    <a:pt x="1892" y="8627"/>
                    <a:pt x="5260" y="5260"/>
                  </a:cubicBezTo>
                  <a:cubicBezTo>
                    <a:pt x="8627" y="1892"/>
                    <a:pt x="13195" y="0"/>
                    <a:pt x="17957"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2270961" cy="2232952"/>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rot="0">
            <a:off x="10112712" y="1539156"/>
            <a:ext cx="7146588" cy="8185817"/>
            <a:chOff x="0" y="0"/>
            <a:chExt cx="9528784" cy="10914423"/>
          </a:xfrm>
        </p:grpSpPr>
        <p:grpSp>
          <p:nvGrpSpPr>
            <p:cNvPr id="8" name="Group 8"/>
            <p:cNvGrpSpPr/>
            <p:nvPr/>
          </p:nvGrpSpPr>
          <p:grpSpPr>
            <a:xfrm rot="0">
              <a:off x="0" y="0"/>
              <a:ext cx="9528784" cy="4632778"/>
              <a:chOff x="0" y="0"/>
              <a:chExt cx="2392379" cy="1163145"/>
            </a:xfrm>
          </p:grpSpPr>
          <p:sp>
            <p:nvSpPr>
              <p:cNvPr id="9" name="Freeform 9"/>
              <p:cNvSpPr/>
              <p:nvPr/>
            </p:nvSpPr>
            <p:spPr>
              <a:xfrm>
                <a:off x="0" y="0"/>
                <a:ext cx="2392379" cy="1163145"/>
              </a:xfrm>
              <a:custGeom>
                <a:avLst/>
                <a:gdLst/>
                <a:ahLst/>
                <a:cxnLst/>
                <a:rect l="l" t="t" r="r" b="b"/>
                <a:pathLst>
                  <a:path w="2392379" h="1163145">
                    <a:moveTo>
                      <a:pt x="21666" y="0"/>
                    </a:moveTo>
                    <a:lnTo>
                      <a:pt x="2370713" y="0"/>
                    </a:lnTo>
                    <a:cubicBezTo>
                      <a:pt x="2376459" y="0"/>
                      <a:pt x="2381970" y="2283"/>
                      <a:pt x="2386033" y="6346"/>
                    </a:cubicBezTo>
                    <a:cubicBezTo>
                      <a:pt x="2390097" y="10409"/>
                      <a:pt x="2392379" y="15920"/>
                      <a:pt x="2392379" y="21666"/>
                    </a:cubicBezTo>
                    <a:lnTo>
                      <a:pt x="2392379" y="1141479"/>
                    </a:lnTo>
                    <a:cubicBezTo>
                      <a:pt x="2392379" y="1153445"/>
                      <a:pt x="2382679" y="1163145"/>
                      <a:pt x="2370713" y="1163145"/>
                    </a:cubicBezTo>
                    <a:lnTo>
                      <a:pt x="21666" y="1163145"/>
                    </a:lnTo>
                    <a:cubicBezTo>
                      <a:pt x="9700" y="1163145"/>
                      <a:pt x="0" y="1153445"/>
                      <a:pt x="0" y="1141479"/>
                    </a:cubicBezTo>
                    <a:lnTo>
                      <a:pt x="0" y="21666"/>
                    </a:lnTo>
                    <a:cubicBezTo>
                      <a:pt x="0" y="9700"/>
                      <a:pt x="9700" y="0"/>
                      <a:pt x="21666" y="0"/>
                    </a:cubicBezTo>
                    <a:close/>
                  </a:path>
                </a:pathLst>
              </a:custGeom>
              <a:solidFill>
                <a:srgbClr val="04001E"/>
              </a:solidFill>
              <a:ln w="38100" cap="sq">
                <a:solidFill>
                  <a:srgbClr val="E5E1DA"/>
                </a:solidFill>
                <a:prstDash val="solid"/>
                <a:miter/>
              </a:ln>
            </p:spPr>
          </p:sp>
          <p:sp>
            <p:nvSpPr>
              <p:cNvPr id="10" name="TextBox 10"/>
              <p:cNvSpPr txBox="1"/>
              <p:nvPr/>
            </p:nvSpPr>
            <p:spPr>
              <a:xfrm>
                <a:off x="0" y="-38100"/>
                <a:ext cx="2392379" cy="1201245"/>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1" name="Group 11"/>
            <p:cNvGrpSpPr/>
            <p:nvPr/>
          </p:nvGrpSpPr>
          <p:grpSpPr>
            <a:xfrm rot="0">
              <a:off x="0" y="5145398"/>
              <a:ext cx="9528784" cy="5769025"/>
              <a:chOff x="0" y="0"/>
              <a:chExt cx="2392379" cy="1448421"/>
            </a:xfrm>
          </p:grpSpPr>
          <p:sp>
            <p:nvSpPr>
              <p:cNvPr id="12" name="Freeform 12"/>
              <p:cNvSpPr/>
              <p:nvPr/>
            </p:nvSpPr>
            <p:spPr>
              <a:xfrm>
                <a:off x="0" y="0"/>
                <a:ext cx="2392379" cy="1448421"/>
              </a:xfrm>
              <a:custGeom>
                <a:avLst/>
                <a:gdLst/>
                <a:ahLst/>
                <a:cxnLst/>
                <a:rect l="l" t="t" r="r" b="b"/>
                <a:pathLst>
                  <a:path w="2392379" h="1448421">
                    <a:moveTo>
                      <a:pt x="21666" y="0"/>
                    </a:moveTo>
                    <a:lnTo>
                      <a:pt x="2370713" y="0"/>
                    </a:lnTo>
                    <a:cubicBezTo>
                      <a:pt x="2376459" y="0"/>
                      <a:pt x="2381970" y="2283"/>
                      <a:pt x="2386033" y="6346"/>
                    </a:cubicBezTo>
                    <a:cubicBezTo>
                      <a:pt x="2390097" y="10409"/>
                      <a:pt x="2392379" y="15920"/>
                      <a:pt x="2392379" y="21666"/>
                    </a:cubicBezTo>
                    <a:lnTo>
                      <a:pt x="2392379" y="1426755"/>
                    </a:lnTo>
                    <a:cubicBezTo>
                      <a:pt x="2392379" y="1438721"/>
                      <a:pt x="2382679" y="1448421"/>
                      <a:pt x="2370713" y="1448421"/>
                    </a:cubicBezTo>
                    <a:lnTo>
                      <a:pt x="21666" y="1448421"/>
                    </a:lnTo>
                    <a:cubicBezTo>
                      <a:pt x="9700" y="1448421"/>
                      <a:pt x="0" y="1438721"/>
                      <a:pt x="0" y="1426755"/>
                    </a:cubicBezTo>
                    <a:lnTo>
                      <a:pt x="0" y="21666"/>
                    </a:lnTo>
                    <a:cubicBezTo>
                      <a:pt x="0" y="9700"/>
                      <a:pt x="9700" y="0"/>
                      <a:pt x="21666" y="0"/>
                    </a:cubicBezTo>
                    <a:close/>
                  </a:path>
                </a:pathLst>
              </a:custGeom>
              <a:solidFill>
                <a:srgbClr val="04001E"/>
              </a:solidFill>
              <a:ln w="38100" cap="sq">
                <a:solidFill>
                  <a:srgbClr val="E5E1DA"/>
                </a:solidFill>
                <a:prstDash val="solid"/>
                <a:miter/>
              </a:ln>
            </p:spPr>
          </p:sp>
          <p:sp>
            <p:nvSpPr>
              <p:cNvPr id="13" name="TextBox 13"/>
              <p:cNvSpPr txBox="1"/>
              <p:nvPr/>
            </p:nvSpPr>
            <p:spPr>
              <a:xfrm>
                <a:off x="0" y="-38100"/>
                <a:ext cx="2392379" cy="1486521"/>
              </a:xfrm>
              <a:prstGeom prst="rect">
                <a:avLst/>
              </a:prstGeom>
            </p:spPr>
            <p:txBody>
              <a:bodyPr lIns="50800" tIns="50800" rIns="50800" bIns="50800" rtlCol="0" anchor="ctr"/>
              <a:lstStyle/>
              <a:p>
                <a:pPr marL="0" lvl="0" indent="0" algn="ctr">
                  <a:lnSpc>
                    <a:spcPts val="2660"/>
                  </a:lnSpc>
                  <a:spcBef>
                    <a:spcPct val="0"/>
                  </a:spcBef>
                </a:pPr>
              </a:p>
            </p:txBody>
          </p:sp>
        </p:grpSp>
      </p:grpSp>
      <p:sp>
        <p:nvSpPr>
          <p:cNvPr id="14" name="Freeform 14"/>
          <p:cNvSpPr/>
          <p:nvPr/>
        </p:nvSpPr>
        <p:spPr>
          <a:xfrm>
            <a:off x="17351879"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4612172" y="197562"/>
            <a:ext cx="2739706" cy="1122519"/>
          </a:xfrm>
          <a:custGeom>
            <a:avLst/>
            <a:gdLst/>
            <a:ahLst/>
            <a:cxnLst/>
            <a:rect l="l" t="t" r="r" b="b"/>
            <a:pathLst>
              <a:path w="2739706" h="1122519">
                <a:moveTo>
                  <a:pt x="0" y="0"/>
                </a:moveTo>
                <a:lnTo>
                  <a:pt x="2739707" y="0"/>
                </a:lnTo>
                <a:lnTo>
                  <a:pt x="2739707" y="1122519"/>
                </a:lnTo>
                <a:lnTo>
                  <a:pt x="0" y="1122519"/>
                </a:lnTo>
                <a:lnTo>
                  <a:pt x="0" y="0"/>
                </a:lnTo>
                <a:close/>
              </a:path>
            </a:pathLst>
          </a:custGeom>
          <a:blipFill>
            <a:blip r:embed="rId4"/>
            <a:stretch>
              <a:fillRect/>
            </a:stretch>
          </a:blipFill>
        </p:spPr>
      </p:sp>
      <p:sp>
        <p:nvSpPr>
          <p:cNvPr id="16" name="TextBox 16"/>
          <p:cNvSpPr txBox="1"/>
          <p:nvPr/>
        </p:nvSpPr>
        <p:spPr>
          <a:xfrm>
            <a:off x="381000" y="419100"/>
            <a:ext cx="7282180"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Company Overview:</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7" name="TextBox 17"/>
          <p:cNvSpPr txBox="1"/>
          <p:nvPr/>
        </p:nvSpPr>
        <p:spPr>
          <a:xfrm>
            <a:off x="1313180" y="1901190"/>
            <a:ext cx="5955665" cy="592455"/>
          </a:xfrm>
          <a:prstGeom prst="rect">
            <a:avLst/>
          </a:prstGeom>
        </p:spPr>
        <p:txBody>
          <a:bodyPr wrap="square" lIns="0" tIns="0" rIns="0" bIns="0" rtlCol="0" anchor="t">
            <a:spAutoFit/>
          </a:bodyPr>
          <a:lstStyle/>
          <a:p>
            <a:pPr algn="ctr">
              <a:lnSpc>
                <a:spcPts val="4620"/>
              </a:lnSpc>
            </a:pPr>
            <a:r>
              <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rPr>
              <a:t>About EduTech Solutions</a:t>
            </a:r>
            <a:endPar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8" name="TextBox 18"/>
          <p:cNvSpPr txBox="1"/>
          <p:nvPr/>
        </p:nvSpPr>
        <p:spPr>
          <a:xfrm>
            <a:off x="1313475" y="2880400"/>
            <a:ext cx="8028043" cy="5844539"/>
          </a:xfrm>
          <a:prstGeom prst="rect">
            <a:avLst/>
          </a:prstGeom>
        </p:spPr>
        <p:txBody>
          <a:bodyPr lIns="0" tIns="0" rIns="0" bIns="0" rtlCol="0" anchor="t">
            <a:spAutoFit/>
          </a:bodyPr>
          <a:lstStyle/>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E</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duTech Solutions is an Innovative Technology Company Specializing in education platforms, learning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management systems, and AI - powered</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academic tools.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a:p>
            <a:pPr algn="l">
              <a:lnSpc>
                <a:spcPts val="3360"/>
              </a:lnSpc>
            </a:p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Founded with a mission to bridge technology and Education, it serves thousands of students and Institutions nationwide.</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a:p>
            <a:pPr algn="l">
              <a:lnSpc>
                <a:spcPts val="3360"/>
              </a:lnSpc>
            </a:p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The company invests in cutting-edge R&amp;D, ensuring learners and educators benefit from the latest AI-driven insights and personalized experiences.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9" name="TextBox 19"/>
          <p:cNvSpPr txBox="1"/>
          <p:nvPr/>
        </p:nvSpPr>
        <p:spPr>
          <a:xfrm>
            <a:off x="10287000" y="1714500"/>
            <a:ext cx="3524885" cy="592455"/>
          </a:xfrm>
          <a:prstGeom prst="rect">
            <a:avLst/>
          </a:prstGeom>
        </p:spPr>
        <p:txBody>
          <a:bodyPr wrap="square" lIns="0" tIns="0" rIns="0" bIns="0" rtlCol="0" anchor="t">
            <a:spAutoFit/>
          </a:bodyPr>
          <a:lstStyle/>
          <a:p>
            <a:pPr algn="ctr">
              <a:lnSpc>
                <a:spcPts val="4620"/>
              </a:lnSpc>
            </a:pPr>
            <a:r>
              <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rPr>
              <a:t>Key Services:</a:t>
            </a:r>
            <a:endPar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20" name="TextBox 20"/>
          <p:cNvSpPr txBox="1"/>
          <p:nvPr/>
        </p:nvSpPr>
        <p:spPr>
          <a:xfrm>
            <a:off x="10286366" y="2426934"/>
            <a:ext cx="6799280" cy="2072639"/>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AI-driven personalized learning platforms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Student Performance &amp; progress Analytics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Curriculum recommendation engines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LMS integration &amp;academic reporting tools.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21" name="TextBox 21"/>
          <p:cNvSpPr txBox="1"/>
          <p:nvPr/>
        </p:nvSpPr>
        <p:spPr>
          <a:xfrm>
            <a:off x="9753600" y="5524500"/>
            <a:ext cx="5961380" cy="592455"/>
          </a:xfrm>
          <a:prstGeom prst="rect">
            <a:avLst/>
          </a:prstGeom>
        </p:spPr>
        <p:txBody>
          <a:bodyPr wrap="square" lIns="0" tIns="0" rIns="0" bIns="0" rtlCol="0" anchor="t">
            <a:spAutoFit/>
          </a:bodyPr>
          <a:lstStyle/>
          <a:p>
            <a:pPr algn="ctr">
              <a:lnSpc>
                <a:spcPts val="4620"/>
              </a:lnSpc>
            </a:pPr>
            <a:r>
              <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rPr>
              <a:t>Internship Structure:</a:t>
            </a:r>
            <a:endParaRPr lang="en-US" sz="3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22" name="TextBox 22"/>
          <p:cNvSpPr txBox="1"/>
          <p:nvPr/>
        </p:nvSpPr>
        <p:spPr>
          <a:xfrm>
            <a:off x="10277475" y="6248400"/>
            <a:ext cx="6954520" cy="2585085"/>
          </a:xfrm>
          <a:prstGeom prst="rect">
            <a:avLst/>
          </a:prstGeom>
        </p:spPr>
        <p:txBody>
          <a:bodyPr wrap="square" lIns="0" tIns="0" rIns="0" bIns="0" rtlCol="0" anchor="t">
            <a:spAutoFit/>
          </a:bodyPr>
          <a:lstStyle/>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Week 1-2 : Onboarding &amp; Domain training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week 3-6 : Project Development &amp;</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mentorship</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week 7-8 : Testing, review &amp;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Finalization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week 9 : Final Presentation &amp; Evaluation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grpSp>
        <p:nvGrpSpPr>
          <p:cNvPr id="4" name="Group 4"/>
          <p:cNvGrpSpPr/>
          <p:nvPr/>
        </p:nvGrpSpPr>
        <p:grpSpPr>
          <a:xfrm rot="0">
            <a:off x="1028700" y="1794704"/>
            <a:ext cx="13851811" cy="7064266"/>
            <a:chOff x="0" y="0"/>
            <a:chExt cx="3648214" cy="1860547"/>
          </a:xfrm>
        </p:grpSpPr>
        <p:sp>
          <p:nvSpPr>
            <p:cNvPr id="5" name="Freeform 5"/>
            <p:cNvSpPr/>
            <p:nvPr/>
          </p:nvSpPr>
          <p:spPr>
            <a:xfrm>
              <a:off x="0" y="0"/>
              <a:ext cx="3648214" cy="1860547"/>
            </a:xfrm>
            <a:custGeom>
              <a:avLst/>
              <a:gdLst/>
              <a:ahLst/>
              <a:cxnLst/>
              <a:rect l="l" t="t" r="r" b="b"/>
              <a:pathLst>
                <a:path w="3648214" h="1860547">
                  <a:moveTo>
                    <a:pt x="11178" y="0"/>
                  </a:moveTo>
                  <a:lnTo>
                    <a:pt x="3637035" y="0"/>
                  </a:lnTo>
                  <a:cubicBezTo>
                    <a:pt x="3643209" y="0"/>
                    <a:pt x="3648214" y="5005"/>
                    <a:pt x="3648214" y="11178"/>
                  </a:cubicBezTo>
                  <a:lnTo>
                    <a:pt x="3648214" y="1849369"/>
                  </a:lnTo>
                  <a:cubicBezTo>
                    <a:pt x="3648214" y="1855543"/>
                    <a:pt x="3643209" y="1860547"/>
                    <a:pt x="3637035" y="1860547"/>
                  </a:cubicBezTo>
                  <a:lnTo>
                    <a:pt x="11178" y="1860547"/>
                  </a:lnTo>
                  <a:cubicBezTo>
                    <a:pt x="5005" y="1860547"/>
                    <a:pt x="0" y="1855543"/>
                    <a:pt x="0" y="1849369"/>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3648214" cy="1898647"/>
            </a:xfrm>
            <a:prstGeom prst="rect">
              <a:avLst/>
            </a:prstGeom>
          </p:spPr>
          <p:txBody>
            <a:bodyPr lIns="50800" tIns="50800" rIns="50800" bIns="50800" rtlCol="0" anchor="ctr"/>
            <a:lstStyle/>
            <a:p>
              <a:pPr algn="ctr">
                <a:lnSpc>
                  <a:spcPts val="2660"/>
                </a:lnSpc>
              </a:pPr>
            </a:p>
          </p:txBody>
        </p:sp>
      </p:grpSp>
      <p:sp>
        <p:nvSpPr>
          <p:cNvPr id="7" name="Freeform 7"/>
          <p:cNvSpPr/>
          <p:nvPr/>
        </p:nvSpPr>
        <p:spPr>
          <a:xfrm>
            <a:off x="15441237" y="881009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4519594" y="301024"/>
            <a:ext cx="2739706" cy="1122519"/>
          </a:xfrm>
          <a:custGeom>
            <a:avLst/>
            <a:gdLst/>
            <a:ahLst/>
            <a:cxnLst/>
            <a:rect l="l" t="t" r="r" b="b"/>
            <a:pathLst>
              <a:path w="2739706" h="1122519">
                <a:moveTo>
                  <a:pt x="0" y="0"/>
                </a:moveTo>
                <a:lnTo>
                  <a:pt x="2739706" y="0"/>
                </a:lnTo>
                <a:lnTo>
                  <a:pt x="2739706" y="1122518"/>
                </a:lnTo>
                <a:lnTo>
                  <a:pt x="0" y="1122518"/>
                </a:lnTo>
                <a:lnTo>
                  <a:pt x="0" y="0"/>
                </a:lnTo>
                <a:close/>
              </a:path>
            </a:pathLst>
          </a:custGeom>
          <a:blipFill>
            <a:blip r:embed="rId4"/>
            <a:stretch>
              <a:fillRect/>
            </a:stretch>
          </a:blipFill>
        </p:spPr>
      </p:sp>
      <p:sp>
        <p:nvSpPr>
          <p:cNvPr id="9" name="TextBox 9"/>
          <p:cNvSpPr txBox="1"/>
          <p:nvPr/>
        </p:nvSpPr>
        <p:spPr>
          <a:xfrm>
            <a:off x="1028700" y="8687520"/>
            <a:ext cx="13851811" cy="1566544"/>
          </a:xfrm>
          <a:prstGeom prst="rect">
            <a:avLst/>
          </a:prstGeom>
        </p:spPr>
        <p:txBody>
          <a:bodyPr lIns="0" tIns="0" rIns="0" bIns="0" rtlCol="0" anchor="t">
            <a:spAutoFit/>
          </a:bodyPr>
          <a:lstStyle/>
          <a:p>
            <a:pPr algn="ctr">
              <a:lnSpc>
                <a:spcPts val="12880"/>
              </a:lnSpc>
            </a:pPr>
          </a:p>
        </p:txBody>
      </p:sp>
      <p:sp>
        <p:nvSpPr>
          <p:cNvPr id="10" name="TextBox 10"/>
          <p:cNvSpPr txBox="1"/>
          <p:nvPr/>
        </p:nvSpPr>
        <p:spPr>
          <a:xfrm>
            <a:off x="1143000" y="2552700"/>
            <a:ext cx="11648440"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Breif Discussion of Project Objectives:</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1" name="TextBox 11"/>
          <p:cNvSpPr txBox="1"/>
          <p:nvPr/>
        </p:nvSpPr>
        <p:spPr>
          <a:xfrm>
            <a:off x="1028700" y="8792295"/>
            <a:ext cx="13851811" cy="580390"/>
          </a:xfrm>
          <a:prstGeom prst="rect">
            <a:avLst/>
          </a:prstGeom>
        </p:spPr>
        <p:txBody>
          <a:bodyPr lIns="0" tIns="0" rIns="0" bIns="0" rtlCol="0" anchor="t">
            <a:spAutoFit/>
          </a:bodyPr>
          <a:lstStyle/>
          <a:p>
            <a:pPr algn="ctr">
              <a:lnSpc>
                <a:spcPts val="4760"/>
              </a:lnSpc>
            </a:pPr>
          </a:p>
        </p:txBody>
      </p:sp>
      <p:sp>
        <p:nvSpPr>
          <p:cNvPr id="12" name="TextBox 12"/>
          <p:cNvSpPr txBox="1"/>
          <p:nvPr/>
        </p:nvSpPr>
        <p:spPr>
          <a:xfrm>
            <a:off x="1576533" y="3758136"/>
            <a:ext cx="12756144" cy="4319269"/>
          </a:xfrm>
          <a:prstGeom prst="rect">
            <a:avLst/>
          </a:prstGeom>
        </p:spPr>
        <p:txBody>
          <a:bodyPr lIns="0" tIns="0" rIns="0" bIns="0" rtlCol="0" anchor="t">
            <a:spAutoFit/>
          </a:bodyPr>
          <a:lstStyle/>
          <a:p>
            <a:pPr marL="539750" lvl="1" indent="-269875" algn="l">
              <a:lnSpc>
                <a:spcPts val="3500"/>
              </a:lnSpc>
              <a:buFont typeface="Arial" panose="020B0604020202020204"/>
              <a:buChar char="•"/>
            </a:pPr>
            <a:r>
              <a:rPr lang="en-US" sz="2500">
                <a:solidFill>
                  <a:srgbClr val="FFFFFF"/>
                </a:solidFill>
                <a:latin typeface="Canva Sans" panose="020B0503030501040103"/>
                <a:ea typeface="Canva Sans" panose="020B0503030501040103"/>
                <a:cs typeface="Canva Sans" panose="020B0503030501040103"/>
                <a:sym typeface="Canva Sans" panose="020B0503030501040103"/>
              </a:rPr>
              <a:t>Analyze employee data to understand the factors influencing employee attrition.</a:t>
            </a:r>
            <a:endParaRPr lang="en-US" sz="2500">
              <a:solidFill>
                <a:srgbClr val="FFFFFF"/>
              </a:solidFill>
              <a:latin typeface="Canva Sans" panose="020B0503030501040103"/>
              <a:ea typeface="Canva Sans" panose="020B0503030501040103"/>
              <a:cs typeface="Canva Sans" panose="020B0503030501040103"/>
              <a:sym typeface="Canva Sans" panose="020B0503030501040103"/>
            </a:endParaRPr>
          </a:p>
          <a:p>
            <a:pPr marL="539750" lvl="1" indent="-269875" algn="l">
              <a:lnSpc>
                <a:spcPts val="3500"/>
              </a:lnSpc>
              <a:buFont typeface="Arial" panose="020B0604020202020204"/>
              <a:buChar char="•"/>
            </a:pPr>
            <a:r>
              <a:rPr lang="en-US" sz="2500">
                <a:solidFill>
                  <a:srgbClr val="FFFFFF"/>
                </a:solidFill>
                <a:latin typeface="Canva Sans" panose="020B0503030501040103"/>
                <a:ea typeface="Canva Sans" panose="020B0503030501040103"/>
                <a:cs typeface="Canva Sans" panose="020B0503030501040103"/>
                <a:sym typeface="Canva Sans" panose="020B0503030501040103"/>
              </a:rPr>
              <a:t>Perform data preprocessing, cleaning, and exploratory data analysis (EDA).</a:t>
            </a:r>
            <a:endParaRPr lang="en-US" sz="2500">
              <a:solidFill>
                <a:srgbClr val="FFFFFF"/>
              </a:solidFill>
              <a:latin typeface="Canva Sans" panose="020B0503030501040103"/>
              <a:ea typeface="Canva Sans" panose="020B0503030501040103"/>
              <a:cs typeface="Canva Sans" panose="020B0503030501040103"/>
              <a:sym typeface="Canva Sans" panose="020B0503030501040103"/>
            </a:endParaRPr>
          </a:p>
          <a:p>
            <a:pPr marL="539750" lvl="1" indent="-269875" algn="l">
              <a:lnSpc>
                <a:spcPts val="3500"/>
              </a:lnSpc>
              <a:buFont typeface="Arial" panose="020B0604020202020204"/>
              <a:buChar char="•"/>
            </a:pPr>
            <a:r>
              <a:rPr lang="en-US" sz="2500">
                <a:solidFill>
                  <a:srgbClr val="FFFFFF"/>
                </a:solidFill>
                <a:latin typeface="Canva Sans" panose="020B0503030501040103"/>
                <a:ea typeface="Canva Sans" panose="020B0503030501040103"/>
                <a:cs typeface="Canva Sans" panose="020B0503030501040103"/>
                <a:sym typeface="Canva Sans" panose="020B0503030501040103"/>
              </a:rPr>
              <a:t>Build a machine learning model to predict whether an employee is likely to leave the organization.</a:t>
            </a:r>
            <a:endParaRPr lang="en-US" sz="2500">
              <a:solidFill>
                <a:srgbClr val="FFFFFF"/>
              </a:solidFill>
              <a:latin typeface="Canva Sans" panose="020B0503030501040103"/>
              <a:ea typeface="Canva Sans" panose="020B0503030501040103"/>
              <a:cs typeface="Canva Sans" panose="020B0503030501040103"/>
              <a:sym typeface="Canva Sans" panose="020B0503030501040103"/>
            </a:endParaRPr>
          </a:p>
          <a:p>
            <a:pPr marL="539750" lvl="1" indent="-269875" algn="l">
              <a:lnSpc>
                <a:spcPts val="3500"/>
              </a:lnSpc>
              <a:buFont typeface="Arial" panose="020B0604020202020204"/>
              <a:buChar char="•"/>
            </a:pPr>
            <a:r>
              <a:rPr lang="en-US" sz="2500">
                <a:solidFill>
                  <a:srgbClr val="FFFFFF"/>
                </a:solidFill>
                <a:latin typeface="Canva Sans" panose="020B0503030501040103"/>
                <a:ea typeface="Canva Sans" panose="020B0503030501040103"/>
                <a:cs typeface="Canva Sans" panose="020B0503030501040103"/>
                <a:sym typeface="Canva Sans" panose="020B0503030501040103"/>
              </a:rPr>
              <a:t>Evaluate the model using performance metrics such as accuracy, precision, recall, and F1-score.</a:t>
            </a:r>
            <a:endParaRPr lang="en-US" sz="25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Provide insights that help organizations improve employee retention and support better HR decision-making.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sp>
        <p:nvSpPr>
          <p:cNvPr id="4" name="Freeform 4"/>
          <p:cNvSpPr/>
          <p:nvPr/>
        </p:nvSpPr>
        <p:spPr>
          <a:xfrm>
            <a:off x="10547408" y="785877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5220624" y="0"/>
            <a:ext cx="2739706" cy="1122519"/>
          </a:xfrm>
          <a:custGeom>
            <a:avLst/>
            <a:gdLst/>
            <a:ahLst/>
            <a:cxnLst/>
            <a:rect l="l" t="t" r="r" b="b"/>
            <a:pathLst>
              <a:path w="2739706" h="1122519">
                <a:moveTo>
                  <a:pt x="0" y="0"/>
                </a:moveTo>
                <a:lnTo>
                  <a:pt x="2739706" y="0"/>
                </a:lnTo>
                <a:lnTo>
                  <a:pt x="2739706" y="1122519"/>
                </a:lnTo>
                <a:lnTo>
                  <a:pt x="0" y="1122519"/>
                </a:lnTo>
                <a:lnTo>
                  <a:pt x="0" y="0"/>
                </a:lnTo>
                <a:close/>
              </a:path>
            </a:pathLst>
          </a:custGeom>
          <a:blipFill>
            <a:blip r:embed="rId4"/>
            <a:stretch>
              <a:fillRect/>
            </a:stretch>
          </a:blipFill>
        </p:spPr>
      </p:sp>
      <p:grpSp>
        <p:nvGrpSpPr>
          <p:cNvPr id="6" name="Group 6"/>
          <p:cNvGrpSpPr/>
          <p:nvPr/>
        </p:nvGrpSpPr>
        <p:grpSpPr>
          <a:xfrm rot="0">
            <a:off x="344431" y="1318511"/>
            <a:ext cx="16022855" cy="8135781"/>
            <a:chOff x="0" y="0"/>
            <a:chExt cx="4220011" cy="2142757"/>
          </a:xfrm>
        </p:grpSpPr>
        <p:sp>
          <p:nvSpPr>
            <p:cNvPr id="7" name="Freeform 7"/>
            <p:cNvSpPr/>
            <p:nvPr/>
          </p:nvSpPr>
          <p:spPr>
            <a:xfrm>
              <a:off x="0" y="0"/>
              <a:ext cx="4220011" cy="2142757"/>
            </a:xfrm>
            <a:custGeom>
              <a:avLst/>
              <a:gdLst/>
              <a:ahLst/>
              <a:cxnLst/>
              <a:rect l="l" t="t" r="r" b="b"/>
              <a:pathLst>
                <a:path w="4220011" h="2142757">
                  <a:moveTo>
                    <a:pt x="9664" y="0"/>
                  </a:moveTo>
                  <a:lnTo>
                    <a:pt x="4210347" y="0"/>
                  </a:lnTo>
                  <a:cubicBezTo>
                    <a:pt x="4212910" y="0"/>
                    <a:pt x="4215368" y="1018"/>
                    <a:pt x="4217181" y="2830"/>
                  </a:cubicBezTo>
                  <a:cubicBezTo>
                    <a:pt x="4218993" y="4643"/>
                    <a:pt x="4220011" y="7101"/>
                    <a:pt x="4220011" y="9664"/>
                  </a:cubicBezTo>
                  <a:lnTo>
                    <a:pt x="4220011" y="2133094"/>
                  </a:lnTo>
                  <a:cubicBezTo>
                    <a:pt x="4220011" y="2135656"/>
                    <a:pt x="4218993" y="2138114"/>
                    <a:pt x="4217181" y="2139927"/>
                  </a:cubicBezTo>
                  <a:cubicBezTo>
                    <a:pt x="4215368" y="2141739"/>
                    <a:pt x="4212910" y="2142757"/>
                    <a:pt x="4210347" y="2142757"/>
                  </a:cubicBezTo>
                  <a:lnTo>
                    <a:pt x="9664" y="2142757"/>
                  </a:lnTo>
                  <a:cubicBezTo>
                    <a:pt x="4327" y="2142757"/>
                    <a:pt x="0" y="2138431"/>
                    <a:pt x="0" y="2133094"/>
                  </a:cubicBezTo>
                  <a:lnTo>
                    <a:pt x="0" y="9664"/>
                  </a:lnTo>
                  <a:cubicBezTo>
                    <a:pt x="0" y="7101"/>
                    <a:pt x="1018" y="4643"/>
                    <a:pt x="2830" y="2830"/>
                  </a:cubicBezTo>
                  <a:cubicBezTo>
                    <a:pt x="4643" y="1018"/>
                    <a:pt x="7101" y="0"/>
                    <a:pt x="9664"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4220011" cy="2180857"/>
            </a:xfrm>
            <a:prstGeom prst="rect">
              <a:avLst/>
            </a:prstGeom>
          </p:spPr>
          <p:txBody>
            <a:bodyPr lIns="50800" tIns="50800" rIns="50800" bIns="50800" rtlCol="0" anchor="ctr"/>
            <a:lstStyle/>
            <a:p>
              <a:pPr algn="ctr">
                <a:lnSpc>
                  <a:spcPts val="2660"/>
                </a:lnSpc>
              </a:pPr>
            </a:p>
          </p:txBody>
        </p:sp>
      </p:grpSp>
      <p:sp>
        <p:nvSpPr>
          <p:cNvPr id="9" name="TextBox 9"/>
          <p:cNvSpPr txBox="1"/>
          <p:nvPr/>
        </p:nvSpPr>
        <p:spPr>
          <a:xfrm>
            <a:off x="152400" y="1790700"/>
            <a:ext cx="6711315"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Project Overview:</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825799" y="9583610"/>
            <a:ext cx="15880824" cy="580390"/>
          </a:xfrm>
          <a:prstGeom prst="rect">
            <a:avLst/>
          </a:prstGeom>
        </p:spPr>
        <p:txBody>
          <a:bodyPr lIns="0" tIns="0" rIns="0" bIns="0" rtlCol="0" anchor="t">
            <a:spAutoFit/>
          </a:bodyPr>
          <a:lstStyle/>
          <a:p>
            <a:pPr algn="ctr">
              <a:lnSpc>
                <a:spcPts val="4760"/>
              </a:lnSpc>
            </a:pPr>
          </a:p>
        </p:txBody>
      </p:sp>
      <p:sp>
        <p:nvSpPr>
          <p:cNvPr id="11" name="TextBox 11"/>
          <p:cNvSpPr txBox="1"/>
          <p:nvPr/>
        </p:nvSpPr>
        <p:spPr>
          <a:xfrm>
            <a:off x="1028700" y="2765041"/>
            <a:ext cx="15010269" cy="6263639"/>
          </a:xfrm>
          <a:prstGeom prst="rect">
            <a:avLst/>
          </a:prstGeom>
        </p:spPr>
        <p:txBody>
          <a:bodyPr lIns="0" tIns="0" rIns="0" bIns="0" rtlCol="0" anchor="t">
            <a:spAutoFit/>
          </a:bodyPr>
          <a:lstStyle/>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The Employee Attrition Analysis project focuses on predicting whether an employee is likely to leave the organization by analyzing HR data. The project uses the IBM HR Analytics Employee Attrition dataset and applies data preprocessing, exploratory data analysis (EDA), feature engineering, and machine learning techniques. After cleaning and preparing the data, a classification model is trained and evaluated using performance metrics such as accuracy, precision, recall, and F1-score. The insights generated from this project help organizations identify key factors contributing to employee attrition and support effective employee retention strategies.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a:p>
            <a:pPr algn="l">
              <a:lnSpc>
                <a:spcPts val="3360"/>
              </a:lnSpc>
            </a:pPr>
            <a:r>
              <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rPr>
              <a:t>Key Points:</a:t>
            </a:r>
            <a:endPar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Dataset: IBM HR Analytics Employee Attrition Dataset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Domain: Data Science / HR Analytics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Tools: Python, Pandas, NumPy, Matplotlib, Seaborn, Scikit-learn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Algorithm: Gradient Boosting Classifier</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Outcome: Predict employee attrition and provide HR insights for better decision-making.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sp>
        <p:nvSpPr>
          <p:cNvPr id="4" name="Freeform 4"/>
          <p:cNvSpPr/>
          <p:nvPr/>
        </p:nvSpPr>
        <p:spPr>
          <a:xfrm>
            <a:off x="17063910" y="9155022"/>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5220624" y="179283"/>
            <a:ext cx="2739706" cy="1122519"/>
          </a:xfrm>
          <a:custGeom>
            <a:avLst/>
            <a:gdLst/>
            <a:ahLst/>
            <a:cxnLst/>
            <a:rect l="l" t="t" r="r" b="b"/>
            <a:pathLst>
              <a:path w="2739706" h="1122519">
                <a:moveTo>
                  <a:pt x="0" y="0"/>
                </a:moveTo>
                <a:lnTo>
                  <a:pt x="2739706" y="0"/>
                </a:lnTo>
                <a:lnTo>
                  <a:pt x="2739706" y="1122518"/>
                </a:lnTo>
                <a:lnTo>
                  <a:pt x="0" y="1122518"/>
                </a:lnTo>
                <a:lnTo>
                  <a:pt x="0" y="0"/>
                </a:lnTo>
                <a:close/>
              </a:path>
            </a:pathLst>
          </a:custGeom>
          <a:blipFill>
            <a:blip r:embed="rId4"/>
            <a:stretch>
              <a:fillRect/>
            </a:stretch>
          </a:blipFill>
        </p:spPr>
      </p:sp>
      <p:grpSp>
        <p:nvGrpSpPr>
          <p:cNvPr id="6" name="Group 6"/>
          <p:cNvGrpSpPr/>
          <p:nvPr/>
        </p:nvGrpSpPr>
        <p:grpSpPr>
          <a:xfrm rot="0">
            <a:off x="567622" y="1301801"/>
            <a:ext cx="16022855" cy="8585493"/>
            <a:chOff x="0" y="0"/>
            <a:chExt cx="4220011" cy="2261200"/>
          </a:xfrm>
        </p:grpSpPr>
        <p:sp>
          <p:nvSpPr>
            <p:cNvPr id="7" name="Freeform 7"/>
            <p:cNvSpPr/>
            <p:nvPr/>
          </p:nvSpPr>
          <p:spPr>
            <a:xfrm>
              <a:off x="0" y="0"/>
              <a:ext cx="4220011" cy="2261200"/>
            </a:xfrm>
            <a:custGeom>
              <a:avLst/>
              <a:gdLst/>
              <a:ahLst/>
              <a:cxnLst/>
              <a:rect l="l" t="t" r="r" b="b"/>
              <a:pathLst>
                <a:path w="4220011" h="2261200">
                  <a:moveTo>
                    <a:pt x="9664" y="0"/>
                  </a:moveTo>
                  <a:lnTo>
                    <a:pt x="4210347" y="0"/>
                  </a:lnTo>
                  <a:cubicBezTo>
                    <a:pt x="4212910" y="0"/>
                    <a:pt x="4215368" y="1018"/>
                    <a:pt x="4217181" y="2830"/>
                  </a:cubicBezTo>
                  <a:cubicBezTo>
                    <a:pt x="4218993" y="4643"/>
                    <a:pt x="4220011" y="7101"/>
                    <a:pt x="4220011" y="9664"/>
                  </a:cubicBezTo>
                  <a:lnTo>
                    <a:pt x="4220011" y="2251536"/>
                  </a:lnTo>
                  <a:cubicBezTo>
                    <a:pt x="4220011" y="2254099"/>
                    <a:pt x="4218993" y="2256557"/>
                    <a:pt x="4217181" y="2258369"/>
                  </a:cubicBezTo>
                  <a:cubicBezTo>
                    <a:pt x="4215368" y="2260182"/>
                    <a:pt x="4212910" y="2261200"/>
                    <a:pt x="4210347" y="2261200"/>
                  </a:cubicBezTo>
                  <a:lnTo>
                    <a:pt x="9664" y="2261200"/>
                  </a:lnTo>
                  <a:cubicBezTo>
                    <a:pt x="7101" y="2261200"/>
                    <a:pt x="4643" y="2260182"/>
                    <a:pt x="2830" y="2258369"/>
                  </a:cubicBezTo>
                  <a:cubicBezTo>
                    <a:pt x="1018" y="2256557"/>
                    <a:pt x="0" y="2254099"/>
                    <a:pt x="0" y="2251536"/>
                  </a:cubicBezTo>
                  <a:lnTo>
                    <a:pt x="0" y="9664"/>
                  </a:lnTo>
                  <a:cubicBezTo>
                    <a:pt x="0" y="7101"/>
                    <a:pt x="1018" y="4643"/>
                    <a:pt x="2830" y="2830"/>
                  </a:cubicBezTo>
                  <a:cubicBezTo>
                    <a:pt x="4643" y="1018"/>
                    <a:pt x="7101" y="0"/>
                    <a:pt x="9664"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4220011" cy="2299300"/>
            </a:xfrm>
            <a:prstGeom prst="rect">
              <a:avLst/>
            </a:prstGeom>
          </p:spPr>
          <p:txBody>
            <a:bodyPr lIns="50800" tIns="50800" rIns="50800" bIns="50800" rtlCol="0" anchor="ctr"/>
            <a:lstStyle/>
            <a:p>
              <a:pPr algn="ctr">
                <a:lnSpc>
                  <a:spcPts val="2660"/>
                </a:lnSpc>
              </a:pPr>
            </a:p>
          </p:txBody>
        </p:sp>
      </p:grpSp>
      <p:sp>
        <p:nvSpPr>
          <p:cNvPr id="9" name="TextBox 9"/>
          <p:cNvSpPr txBox="1"/>
          <p:nvPr/>
        </p:nvSpPr>
        <p:spPr>
          <a:xfrm>
            <a:off x="1066800" y="1866900"/>
            <a:ext cx="4564380"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Methodology:</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1225615" y="2839820"/>
            <a:ext cx="13726597" cy="6104889"/>
          </a:xfrm>
          <a:prstGeom prst="rect">
            <a:avLst/>
          </a:prstGeom>
        </p:spPr>
        <p:txBody>
          <a:bodyPr lIns="0" tIns="0" rIns="0" bIns="0" rtlCol="0" anchor="t">
            <a:spAutoFit/>
          </a:bodyPr>
          <a:lstStyle/>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1. Planning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Defined the project objective and selected the IBM HR Employee </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Attrition dataset.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2. Data Collection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Imported the dataset and understood its features and target variable.</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3. Data Preprocessing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Cleaned the data, handled missing values, and performed label encoding.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4. Exploratory Data Analysis (EDA)</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Created visualizations to identify patterns and relationships in employee data.</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5. Model Development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Trained the Gradient Boosting Classifier for attrition prediction.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6. Model Evaluation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Evaluated the model using Accuracy, Precision, Recall, F1-Score, and Classification Report.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7. Prediction &amp; Results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Predicted employee attrition and generated insights for HR decision-making.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ctr">
              <a:lnSpc>
                <a:spcPts val="1960"/>
              </a:lnSpc>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grpSp>
        <p:nvGrpSpPr>
          <p:cNvPr id="3" name="Group 3"/>
          <p:cNvGrpSpPr/>
          <p:nvPr/>
        </p:nvGrpSpPr>
        <p:grpSpPr>
          <a:xfrm rot="0">
            <a:off x="1028700" y="1413758"/>
            <a:ext cx="15237135" cy="8396926"/>
            <a:chOff x="0" y="0"/>
            <a:chExt cx="4013073" cy="2211536"/>
          </a:xfrm>
        </p:grpSpPr>
        <p:sp>
          <p:nvSpPr>
            <p:cNvPr id="4" name="Freeform 4"/>
            <p:cNvSpPr/>
            <p:nvPr/>
          </p:nvSpPr>
          <p:spPr>
            <a:xfrm>
              <a:off x="0" y="0"/>
              <a:ext cx="4013072" cy="2211536"/>
            </a:xfrm>
            <a:custGeom>
              <a:avLst/>
              <a:gdLst/>
              <a:ahLst/>
              <a:cxnLst/>
              <a:rect l="l" t="t" r="r" b="b"/>
              <a:pathLst>
                <a:path w="4013072" h="2211536">
                  <a:moveTo>
                    <a:pt x="10162" y="0"/>
                  </a:moveTo>
                  <a:lnTo>
                    <a:pt x="4002911" y="0"/>
                  </a:lnTo>
                  <a:cubicBezTo>
                    <a:pt x="4005606" y="0"/>
                    <a:pt x="4008190" y="1071"/>
                    <a:pt x="4010096" y="2976"/>
                  </a:cubicBezTo>
                  <a:cubicBezTo>
                    <a:pt x="4012002" y="4882"/>
                    <a:pt x="4013072" y="7467"/>
                    <a:pt x="4013072" y="10162"/>
                  </a:cubicBezTo>
                  <a:lnTo>
                    <a:pt x="4013072" y="2201374"/>
                  </a:lnTo>
                  <a:cubicBezTo>
                    <a:pt x="4013072" y="2204069"/>
                    <a:pt x="4012002" y="2206654"/>
                    <a:pt x="4010096" y="2208560"/>
                  </a:cubicBezTo>
                  <a:cubicBezTo>
                    <a:pt x="4008190" y="2210465"/>
                    <a:pt x="4005606" y="2211536"/>
                    <a:pt x="4002911" y="2211536"/>
                  </a:cubicBezTo>
                  <a:lnTo>
                    <a:pt x="10162" y="2211536"/>
                  </a:lnTo>
                  <a:cubicBezTo>
                    <a:pt x="7467" y="2211536"/>
                    <a:pt x="4882" y="2210465"/>
                    <a:pt x="2976" y="2208560"/>
                  </a:cubicBezTo>
                  <a:cubicBezTo>
                    <a:pt x="1071" y="2206654"/>
                    <a:pt x="0" y="2204069"/>
                    <a:pt x="0" y="2201374"/>
                  </a:cubicBezTo>
                  <a:lnTo>
                    <a:pt x="0" y="10162"/>
                  </a:lnTo>
                  <a:cubicBezTo>
                    <a:pt x="0" y="7467"/>
                    <a:pt x="1071" y="4882"/>
                    <a:pt x="2976" y="2976"/>
                  </a:cubicBezTo>
                  <a:cubicBezTo>
                    <a:pt x="4882" y="1071"/>
                    <a:pt x="7467" y="0"/>
                    <a:pt x="10162" y="0"/>
                  </a:cubicBezTo>
                  <a:close/>
                </a:path>
              </a:pathLst>
            </a:custGeom>
            <a:solidFill>
              <a:srgbClr val="04001E"/>
            </a:solidFill>
            <a:ln w="38100" cap="sq">
              <a:solidFill>
                <a:srgbClr val="E5E1DA"/>
              </a:solidFill>
              <a:prstDash val="solid"/>
              <a:miter/>
            </a:ln>
          </p:spPr>
        </p:sp>
        <p:sp>
          <p:nvSpPr>
            <p:cNvPr id="5" name="TextBox 5"/>
            <p:cNvSpPr txBox="1"/>
            <p:nvPr/>
          </p:nvSpPr>
          <p:spPr>
            <a:xfrm>
              <a:off x="0" y="-38100"/>
              <a:ext cx="4013073" cy="2249636"/>
            </a:xfrm>
            <a:prstGeom prst="rect">
              <a:avLst/>
            </a:prstGeom>
          </p:spPr>
          <p:txBody>
            <a:bodyPr lIns="50800" tIns="50800" rIns="50800" bIns="50800" rtlCol="0" anchor="ctr"/>
            <a:lstStyle/>
            <a:p>
              <a:pPr algn="ctr">
                <a:lnSpc>
                  <a:spcPts val="2660"/>
                </a:lnSpc>
              </a:pPr>
            </a:p>
          </p:txBody>
        </p:sp>
      </p:grpSp>
      <p:sp>
        <p:nvSpPr>
          <p:cNvPr id="6" name="Freeform 6"/>
          <p:cNvSpPr/>
          <p:nvPr/>
        </p:nvSpPr>
        <p:spPr>
          <a:xfrm>
            <a:off x="16811090" y="9076184"/>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4895982" y="291240"/>
            <a:ext cx="2739706" cy="1122519"/>
          </a:xfrm>
          <a:custGeom>
            <a:avLst/>
            <a:gdLst/>
            <a:ahLst/>
            <a:cxnLst/>
            <a:rect l="l" t="t" r="r" b="b"/>
            <a:pathLst>
              <a:path w="2739706" h="1122519">
                <a:moveTo>
                  <a:pt x="0" y="0"/>
                </a:moveTo>
                <a:lnTo>
                  <a:pt x="2739706" y="0"/>
                </a:lnTo>
                <a:lnTo>
                  <a:pt x="2739706" y="1122518"/>
                </a:lnTo>
                <a:lnTo>
                  <a:pt x="0" y="1122518"/>
                </a:lnTo>
                <a:lnTo>
                  <a:pt x="0" y="0"/>
                </a:lnTo>
                <a:close/>
              </a:path>
            </a:pathLst>
          </a:custGeom>
          <a:blipFill>
            <a:blip r:embed="rId4"/>
            <a:stretch>
              <a:fillRect/>
            </a:stretch>
          </a:blipFill>
        </p:spPr>
      </p:sp>
      <p:sp>
        <p:nvSpPr>
          <p:cNvPr id="9" name="TextBox 9"/>
          <p:cNvSpPr txBox="1"/>
          <p:nvPr/>
        </p:nvSpPr>
        <p:spPr>
          <a:xfrm>
            <a:off x="762000" y="1714500"/>
            <a:ext cx="7324090"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Tools &amp; Technologies:</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1547928" y="2708845"/>
            <a:ext cx="8357328" cy="7101839"/>
          </a:xfrm>
          <a:prstGeom prst="rect">
            <a:avLst/>
          </a:prstGeom>
        </p:spPr>
        <p:txBody>
          <a:bodyPr lIns="0" tIns="0" rIns="0" bIns="0" rtlCol="0" anchor="t">
            <a:spAutoFit/>
          </a:bodyPr>
          <a:lstStyle/>
          <a:p>
            <a:pPr algn="just">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Programming Language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Python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Libraries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Pandas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NumPy</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Matplotlib</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Scikit-learn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Development Environment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Jupyter Notebook</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Visual Studio Code</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Dataset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IBM HR Analytics Employee Attrition Dataset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Machine Learning Algorithm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Gradient Boosting Classifier</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Version Control :</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Git &amp; GitHub</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sp>
        <p:nvSpPr>
          <p:cNvPr id="4" name="Freeform 4"/>
          <p:cNvSpPr/>
          <p:nvPr/>
        </p:nvSpPr>
        <p:spPr>
          <a:xfrm>
            <a:off x="15038013" y="467441"/>
            <a:ext cx="2739706" cy="1122519"/>
          </a:xfrm>
          <a:custGeom>
            <a:avLst/>
            <a:gdLst/>
            <a:ahLst/>
            <a:cxnLst/>
            <a:rect l="l" t="t" r="r" b="b"/>
            <a:pathLst>
              <a:path w="2739706" h="1122519">
                <a:moveTo>
                  <a:pt x="0" y="0"/>
                </a:moveTo>
                <a:lnTo>
                  <a:pt x="2739706" y="0"/>
                </a:lnTo>
                <a:lnTo>
                  <a:pt x="2739706" y="1122518"/>
                </a:lnTo>
                <a:lnTo>
                  <a:pt x="0" y="1122518"/>
                </a:lnTo>
                <a:lnTo>
                  <a:pt x="0" y="0"/>
                </a:lnTo>
                <a:close/>
              </a:path>
            </a:pathLst>
          </a:custGeom>
          <a:blipFill>
            <a:blip r:embed="rId2"/>
            <a:stretch>
              <a:fillRect/>
            </a:stretch>
          </a:blipFill>
        </p:spPr>
      </p:sp>
      <p:sp>
        <p:nvSpPr>
          <p:cNvPr id="5" name="Freeform 5"/>
          <p:cNvSpPr/>
          <p:nvPr/>
        </p:nvSpPr>
        <p:spPr>
          <a:xfrm>
            <a:off x="1409893" y="6448933"/>
            <a:ext cx="6756077" cy="2236332"/>
          </a:xfrm>
          <a:custGeom>
            <a:avLst/>
            <a:gdLst/>
            <a:ahLst/>
            <a:cxnLst/>
            <a:rect l="l" t="t" r="r" b="b"/>
            <a:pathLst>
              <a:path w="6756077" h="2236332">
                <a:moveTo>
                  <a:pt x="0" y="0"/>
                </a:moveTo>
                <a:lnTo>
                  <a:pt x="6756077" y="0"/>
                </a:lnTo>
                <a:lnTo>
                  <a:pt x="6756077" y="2236332"/>
                </a:lnTo>
                <a:lnTo>
                  <a:pt x="0" y="2236332"/>
                </a:lnTo>
                <a:lnTo>
                  <a:pt x="0" y="0"/>
                </a:lnTo>
                <a:close/>
              </a:path>
            </a:pathLst>
          </a:custGeom>
          <a:blipFill>
            <a:blip r:embed="rId3"/>
            <a:stretch>
              <a:fillRect/>
            </a:stretch>
          </a:blipFill>
        </p:spPr>
      </p:sp>
      <p:sp>
        <p:nvSpPr>
          <p:cNvPr id="6" name="Freeform 6"/>
          <p:cNvSpPr/>
          <p:nvPr/>
        </p:nvSpPr>
        <p:spPr>
          <a:xfrm>
            <a:off x="9382542" y="6141283"/>
            <a:ext cx="8195303" cy="3117017"/>
          </a:xfrm>
          <a:custGeom>
            <a:avLst/>
            <a:gdLst/>
            <a:ahLst/>
            <a:cxnLst/>
            <a:rect l="l" t="t" r="r" b="b"/>
            <a:pathLst>
              <a:path w="8195303" h="3117017">
                <a:moveTo>
                  <a:pt x="0" y="0"/>
                </a:moveTo>
                <a:lnTo>
                  <a:pt x="8195304" y="0"/>
                </a:lnTo>
                <a:lnTo>
                  <a:pt x="8195304" y="3117017"/>
                </a:lnTo>
                <a:lnTo>
                  <a:pt x="0" y="3117017"/>
                </a:lnTo>
                <a:lnTo>
                  <a:pt x="0" y="0"/>
                </a:lnTo>
                <a:close/>
              </a:path>
            </a:pathLst>
          </a:custGeom>
          <a:blipFill>
            <a:blip r:embed="rId4"/>
            <a:stretch>
              <a:fillRect/>
            </a:stretch>
          </a:blipFill>
        </p:spPr>
      </p:sp>
      <p:sp>
        <p:nvSpPr>
          <p:cNvPr id="7" name="TextBox 7"/>
          <p:cNvSpPr txBox="1"/>
          <p:nvPr/>
        </p:nvSpPr>
        <p:spPr>
          <a:xfrm>
            <a:off x="1301347" y="2677499"/>
            <a:ext cx="14021515" cy="3329939"/>
          </a:xfrm>
          <a:prstGeom prst="rect">
            <a:avLst/>
          </a:prstGeom>
        </p:spPr>
        <p:txBody>
          <a:bodyPr lIns="0" tIns="0" rIns="0" bIns="0" rtlCol="0" anchor="t">
            <a:spAutoFit/>
          </a:bodyPr>
          <a:lstStyle/>
          <a:p>
            <a:pPr marL="518160" lvl="1" indent="-259080" algn="just">
              <a:lnSpc>
                <a:spcPts val="3360"/>
              </a:lnSpc>
              <a:buFont typeface="Arial" panose="020B0604020202020204"/>
              <a:buChar char="•"/>
            </a:pPr>
            <a:r>
              <a:rPr lang="en-US" sz="2400">
                <a:solidFill>
                  <a:srgbClr val="E5E1DA"/>
                </a:solidFill>
                <a:latin typeface="Canva Sans" panose="020B0503030501040103"/>
                <a:ea typeface="Canva Sans" panose="020B0503030501040103"/>
                <a:cs typeface="Canva Sans" panose="020B0503030501040103"/>
                <a:sym typeface="Canva Sans" panose="020B0503030501040103"/>
              </a:rPr>
              <a:t>Developed an Employee Attrition Prediction model using Gradient Boosting Classifier.</a:t>
            </a:r>
            <a:endParaRPr lang="en-US" sz="2400">
              <a:solidFill>
                <a:srgbClr val="E5E1DA"/>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E5E1DA"/>
                </a:solidFill>
                <a:latin typeface="Canva Sans" panose="020B0503030501040103"/>
                <a:ea typeface="Canva Sans" panose="020B0503030501040103"/>
                <a:cs typeface="Canva Sans" panose="020B0503030501040103"/>
                <a:sym typeface="Canva Sans" panose="020B0503030501040103"/>
              </a:rPr>
              <a:t>The model analyzed employee factors to predict attrition patterns.</a:t>
            </a:r>
            <a:endParaRPr lang="en-US" sz="2400">
              <a:solidFill>
                <a:srgbClr val="E5E1DA"/>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E5E1DA"/>
                </a:solidFill>
                <a:latin typeface="Canva Sans" panose="020B0503030501040103"/>
                <a:ea typeface="Canva Sans" panose="020B0503030501040103"/>
                <a:cs typeface="Canva Sans" panose="020B0503030501040103"/>
                <a:sym typeface="Canva Sans" panose="020B0503030501040103"/>
              </a:rPr>
              <a:t>Achieved an overall model accuracy of 89% on the test dataset.</a:t>
            </a:r>
            <a:endParaRPr lang="en-US" sz="2400">
              <a:solidFill>
                <a:srgbClr val="E5E1DA"/>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E5E1DA"/>
                </a:solidFill>
                <a:latin typeface="Canva Sans" panose="020B0503030501040103"/>
                <a:ea typeface="Canva Sans" panose="020B0503030501040103"/>
                <a:cs typeface="Canva Sans" panose="020B0503030501040103"/>
                <a:sym typeface="Canva Sans" panose="020B0503030501040103"/>
              </a:rPr>
              <a:t>The prediction results help identify employees who are more likely to leave the organization.</a:t>
            </a:r>
            <a:endParaRPr lang="en-US" sz="2400">
              <a:solidFill>
                <a:srgbClr val="E5E1DA"/>
              </a:solidFill>
              <a:latin typeface="Canva Sans" panose="020B0503030501040103"/>
              <a:ea typeface="Canva Sans" panose="020B0503030501040103"/>
              <a:cs typeface="Canva Sans" panose="020B0503030501040103"/>
              <a:sym typeface="Canva Sans" panose="020B0503030501040103"/>
            </a:endParaRPr>
          </a:p>
          <a:p>
            <a:pPr marL="518160" lvl="1" indent="-259080" algn="just">
              <a:lnSpc>
                <a:spcPts val="3360"/>
              </a:lnSpc>
              <a:buFont typeface="Arial" panose="020B0604020202020204"/>
              <a:buChar char="•"/>
            </a:pPr>
            <a:r>
              <a:rPr lang="en-US" sz="2400">
                <a:solidFill>
                  <a:srgbClr val="E5E1DA"/>
                </a:solidFill>
                <a:latin typeface="Canva Sans" panose="020B0503030501040103"/>
                <a:ea typeface="Canva Sans" panose="020B0503030501040103"/>
                <a:cs typeface="Canva Sans" panose="020B0503030501040103"/>
                <a:sym typeface="Canva Sans" panose="020B0503030501040103"/>
              </a:rPr>
              <a:t>The analysis supports organizations in improving employee retention strategies.</a:t>
            </a:r>
            <a:endParaRPr lang="en-US" sz="2400">
              <a:solidFill>
                <a:srgbClr val="E5E1DA"/>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b="1">
                <a:solidFill>
                  <a:srgbClr val="E5E1DA"/>
                </a:solidFill>
                <a:latin typeface="Canva Sans Bold" panose="020B0803030501040103"/>
                <a:ea typeface="Canva Sans Bold" panose="020B0803030501040103"/>
                <a:cs typeface="Canva Sans Bold" panose="020B0803030501040103"/>
                <a:sym typeface="Canva Sans Bold" panose="020B0803030501040103"/>
              </a:rPr>
              <a:t>Model Performance:</a:t>
            </a:r>
            <a:endParaRPr lang="en-US" sz="2400" b="1">
              <a:solidFill>
                <a:srgbClr val="E5E1DA"/>
              </a:solidFill>
              <a:latin typeface="Canva Sans Bold" panose="020B0803030501040103"/>
              <a:ea typeface="Canva Sans Bold" panose="020B0803030501040103"/>
              <a:cs typeface="Canva Sans Bold" panose="020B0803030501040103"/>
              <a:sym typeface="Canva Sans Bold" panose="020B0803030501040103"/>
            </a:endParaRPr>
          </a:p>
          <a:p>
            <a:pPr algn="just">
              <a:lnSpc>
                <a:spcPts val="3360"/>
              </a:lnSpc>
            </a:pPr>
            <a:r>
              <a:rPr lang="en-US" sz="2400" b="1">
                <a:solidFill>
                  <a:srgbClr val="E5E1DA"/>
                </a:solidFill>
                <a:latin typeface="Canva Sans Bold" panose="020B0803030501040103"/>
                <a:ea typeface="Canva Sans Bold" panose="020B0803030501040103"/>
                <a:cs typeface="Canva Sans Bold" panose="020B0803030501040103"/>
                <a:sym typeface="Canva Sans Bold" panose="020B0803030501040103"/>
              </a:rPr>
              <a:t>Accuracy: 89% </a:t>
            </a:r>
            <a:endParaRPr lang="en-US" sz="2400" b="1">
              <a:solidFill>
                <a:srgbClr val="E5E1DA"/>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3360"/>
              </a:lnSpc>
            </a:pPr>
          </a:p>
        </p:txBody>
      </p:sp>
      <p:sp>
        <p:nvSpPr>
          <p:cNvPr id="8" name="TextBox 8"/>
          <p:cNvSpPr txBox="1"/>
          <p:nvPr/>
        </p:nvSpPr>
        <p:spPr>
          <a:xfrm>
            <a:off x="1409700" y="1714500"/>
            <a:ext cx="3056890" cy="807720"/>
          </a:xfrm>
          <a:prstGeom prst="rect">
            <a:avLst/>
          </a:prstGeom>
        </p:spPr>
        <p:txBody>
          <a:bodyPr wrap="square" lIns="0" tIns="0" rIns="0" bIns="0" rtlCol="0" anchor="t">
            <a:spAutoFit/>
          </a:bodyPr>
          <a:lstStyle/>
          <a:p>
            <a:pPr algn="ctr">
              <a:lnSpc>
                <a:spcPts val="6300"/>
              </a:lnSpc>
            </a:pPr>
            <a:r>
              <a:rPr lang="en-US" sz="4500" b="1">
                <a:solidFill>
                  <a:srgbClr val="E5E1DA"/>
                </a:solidFill>
                <a:latin typeface="Canva Sans Bold" panose="020B0803030501040103"/>
                <a:ea typeface="Canva Sans Bold" panose="020B0803030501040103"/>
                <a:cs typeface="Canva Sans Bold" panose="020B0803030501040103"/>
                <a:sym typeface="Canva Sans Bold" panose="020B0803030501040103"/>
              </a:rPr>
              <a:t>Output:</a:t>
            </a:r>
            <a:endParaRPr lang="en-US" sz="4500" b="1">
              <a:solidFill>
                <a:srgbClr val="E5E1DA"/>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4001E"/>
        </a:solidFill>
        <a:effectLst/>
      </p:bgPr>
    </p:bg>
    <p:spTree>
      <p:nvGrpSpPr>
        <p:cNvPr id="1" name=""/>
        <p:cNvGrpSpPr/>
        <p:nvPr/>
      </p:nvGrpSpPr>
      <p:grpSpPr>
        <a:xfrm>
          <a:off x="0" y="0"/>
          <a:ext cx="0" cy="0"/>
          <a:chOff x="0" y="0"/>
          <a:chExt cx="0" cy="0"/>
        </a:xfrm>
      </p:grpSpPr>
      <p:sp>
        <p:nvSpPr>
          <p:cNvPr id="3" name="TextBox 3"/>
          <p:cNvSpPr txBox="1"/>
          <p:nvPr/>
        </p:nvSpPr>
        <p:spPr>
          <a:xfrm>
            <a:off x="1659375" y="1802185"/>
            <a:ext cx="7015520" cy="863600"/>
          </a:xfrm>
          <a:prstGeom prst="rect">
            <a:avLst/>
          </a:prstGeom>
        </p:spPr>
        <p:txBody>
          <a:bodyPr lIns="0" tIns="0" rIns="0" bIns="0" rtlCol="0" anchor="t">
            <a:spAutoFit/>
          </a:bodyPr>
          <a:lstStyle/>
          <a:p>
            <a:pPr algn="ctr">
              <a:lnSpc>
                <a:spcPts val="7000"/>
              </a:lnSpc>
            </a:pPr>
            <a:r>
              <a:rPr lang="en-US" sz="5000" b="1">
                <a:solidFill>
                  <a:srgbClr val="FFFFFF"/>
                </a:solidFill>
                <a:latin typeface="Canva Sans Bold" panose="020B0803030501040103"/>
                <a:ea typeface="Canva Sans Bold" panose="020B0803030501040103"/>
                <a:cs typeface="Canva Sans Bold" panose="020B0803030501040103"/>
                <a:sym typeface="Canva Sans Bold" panose="020B0803030501040103"/>
              </a:rPr>
              <a:t>Challenges &amp; Learning:</a:t>
            </a:r>
            <a:endParaRPr lang="en-US" sz="50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grpSp>
        <p:nvGrpSpPr>
          <p:cNvPr id="4" name="Group 4"/>
          <p:cNvGrpSpPr/>
          <p:nvPr/>
        </p:nvGrpSpPr>
        <p:grpSpPr>
          <a:xfrm rot="0">
            <a:off x="663467" y="1285558"/>
            <a:ext cx="16022855" cy="8585493"/>
            <a:chOff x="0" y="0"/>
            <a:chExt cx="4220011" cy="2261200"/>
          </a:xfrm>
        </p:grpSpPr>
        <p:sp>
          <p:nvSpPr>
            <p:cNvPr id="5" name="Freeform 5"/>
            <p:cNvSpPr/>
            <p:nvPr/>
          </p:nvSpPr>
          <p:spPr>
            <a:xfrm>
              <a:off x="0" y="0"/>
              <a:ext cx="4220011" cy="2261200"/>
            </a:xfrm>
            <a:custGeom>
              <a:avLst/>
              <a:gdLst/>
              <a:ahLst/>
              <a:cxnLst/>
              <a:rect l="l" t="t" r="r" b="b"/>
              <a:pathLst>
                <a:path w="4220011" h="2261200">
                  <a:moveTo>
                    <a:pt x="9664" y="0"/>
                  </a:moveTo>
                  <a:lnTo>
                    <a:pt x="4210347" y="0"/>
                  </a:lnTo>
                  <a:cubicBezTo>
                    <a:pt x="4212910" y="0"/>
                    <a:pt x="4215368" y="1018"/>
                    <a:pt x="4217181" y="2830"/>
                  </a:cubicBezTo>
                  <a:cubicBezTo>
                    <a:pt x="4218993" y="4643"/>
                    <a:pt x="4220011" y="7101"/>
                    <a:pt x="4220011" y="9664"/>
                  </a:cubicBezTo>
                  <a:lnTo>
                    <a:pt x="4220011" y="2251536"/>
                  </a:lnTo>
                  <a:cubicBezTo>
                    <a:pt x="4220011" y="2254099"/>
                    <a:pt x="4218993" y="2256557"/>
                    <a:pt x="4217181" y="2258369"/>
                  </a:cubicBezTo>
                  <a:cubicBezTo>
                    <a:pt x="4215368" y="2260182"/>
                    <a:pt x="4212910" y="2261200"/>
                    <a:pt x="4210347" y="2261200"/>
                  </a:cubicBezTo>
                  <a:lnTo>
                    <a:pt x="9664" y="2261200"/>
                  </a:lnTo>
                  <a:cubicBezTo>
                    <a:pt x="7101" y="2261200"/>
                    <a:pt x="4643" y="2260182"/>
                    <a:pt x="2830" y="2258369"/>
                  </a:cubicBezTo>
                  <a:cubicBezTo>
                    <a:pt x="1018" y="2256557"/>
                    <a:pt x="0" y="2254099"/>
                    <a:pt x="0" y="2251536"/>
                  </a:cubicBezTo>
                  <a:lnTo>
                    <a:pt x="0" y="9664"/>
                  </a:lnTo>
                  <a:cubicBezTo>
                    <a:pt x="0" y="7101"/>
                    <a:pt x="1018" y="4643"/>
                    <a:pt x="2830" y="2830"/>
                  </a:cubicBezTo>
                  <a:cubicBezTo>
                    <a:pt x="4643" y="1018"/>
                    <a:pt x="7101" y="0"/>
                    <a:pt x="9664"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4220011" cy="2299300"/>
            </a:xfrm>
            <a:prstGeom prst="rect">
              <a:avLst/>
            </a:prstGeom>
          </p:spPr>
          <p:txBody>
            <a:bodyPr lIns="50800" tIns="50800" rIns="50800" bIns="50800" rtlCol="0" anchor="ctr"/>
            <a:lstStyle/>
            <a:p>
              <a:pPr algn="ctr">
                <a:lnSpc>
                  <a:spcPts val="2660"/>
                </a:lnSpc>
              </a:pPr>
            </a:p>
          </p:txBody>
        </p:sp>
      </p:grpSp>
      <p:sp>
        <p:nvSpPr>
          <p:cNvPr id="7" name="TextBox 7"/>
          <p:cNvSpPr txBox="1"/>
          <p:nvPr/>
        </p:nvSpPr>
        <p:spPr>
          <a:xfrm>
            <a:off x="1393019" y="3008777"/>
            <a:ext cx="12417862" cy="5844539"/>
          </a:xfrm>
          <a:prstGeom prst="rect">
            <a:avLst/>
          </a:prstGeom>
        </p:spPr>
        <p:txBody>
          <a:bodyPr lIns="0" tIns="0" rIns="0" bIns="0" rtlCol="0" anchor="t">
            <a:spAutoFit/>
          </a:bodyPr>
          <a:lstStyle/>
          <a:p>
            <a:pPr algn="l">
              <a:lnSpc>
                <a:spcPts val="3360"/>
              </a:lnSpc>
            </a:pPr>
            <a:r>
              <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rPr>
              <a:t>Challenges</a:t>
            </a:r>
            <a:endPar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a:p>
            <a:pPr algn="l">
              <a:lnSpc>
                <a:spcPts val="3360"/>
              </a:lnSpc>
            </a:p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Handling and understanding a real-world HR analytics dataset.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Data preprocessing, feature selection, and preparing data for model training.</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Improving prediction performance and handling class imbalance in attrition data.</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Understanding machine learning model evaluation metrics.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a:p>
            <a:pPr algn="l">
              <a:lnSpc>
                <a:spcPts val="3360"/>
              </a:lnSpc>
            </a:pPr>
            <a:r>
              <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rPr>
              <a:t>Learning Outcomes</a:t>
            </a:r>
            <a:endPar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a:p>
            <a:pPr algn="l">
              <a:lnSpc>
                <a:spcPts val="3360"/>
              </a:lnSpc>
            </a:p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Gained practical experience in Python, SQL, and Machine Learning techniques.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Learned data cleaning, exploratory data analysis, and visualization methods.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Improved understanding of employee attrition factors and predictive analytics.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l">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Developed skills in building and evaluating a machine learning model.</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p:txBody>
      </p:sp>
      <p:sp>
        <p:nvSpPr>
          <p:cNvPr id="8" name="Freeform 8"/>
          <p:cNvSpPr/>
          <p:nvPr/>
        </p:nvSpPr>
        <p:spPr>
          <a:xfrm>
            <a:off x="15119173" y="0"/>
            <a:ext cx="2739706" cy="1122519"/>
          </a:xfrm>
          <a:custGeom>
            <a:avLst/>
            <a:gdLst/>
            <a:ahLst/>
            <a:cxnLst/>
            <a:rect l="l" t="t" r="r" b="b"/>
            <a:pathLst>
              <a:path w="2739706" h="1122519">
                <a:moveTo>
                  <a:pt x="0" y="0"/>
                </a:moveTo>
                <a:lnTo>
                  <a:pt x="2739706" y="0"/>
                </a:lnTo>
                <a:lnTo>
                  <a:pt x="2739706" y="1122519"/>
                </a:lnTo>
                <a:lnTo>
                  <a:pt x="0" y="1122519"/>
                </a:lnTo>
                <a:lnTo>
                  <a:pt x="0" y="0"/>
                </a:lnTo>
                <a:close/>
              </a:path>
            </a:pathLst>
          </a:custGeom>
          <a:blipFill>
            <a:blip r:embed="rId1"/>
            <a:stretch>
              <a:fillRect/>
            </a:stretch>
          </a:blipFill>
        </p:spPr>
      </p:sp>
      <p:sp>
        <p:nvSpPr>
          <p:cNvPr id="9" name="TextBox 9"/>
          <p:cNvSpPr txBox="1"/>
          <p:nvPr/>
        </p:nvSpPr>
        <p:spPr>
          <a:xfrm>
            <a:off x="457200" y="2019300"/>
            <a:ext cx="7936865"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Challenges &amp; learning :</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0" name="TextBox 10"/>
          <p:cNvSpPr txBox="1"/>
          <p:nvPr/>
        </p:nvSpPr>
        <p:spPr>
          <a:xfrm>
            <a:off x="663467" y="9547518"/>
            <a:ext cx="16022855" cy="580390"/>
          </a:xfrm>
          <a:prstGeom prst="rect">
            <a:avLst/>
          </a:prstGeom>
        </p:spPr>
        <p:txBody>
          <a:bodyPr lIns="0" tIns="0" rIns="0" bIns="0" rtlCol="0" anchor="t">
            <a:spAutoFit/>
          </a:bodyPr>
          <a:lstStyle/>
          <a:p>
            <a:pPr algn="ctr">
              <a:lnSpc>
                <a:spcPts val="4760"/>
              </a:lnSpc>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001E"/>
        </a:solidFill>
        <a:effectLst/>
      </p:bgPr>
    </p:bg>
    <p:spTree>
      <p:nvGrpSpPr>
        <p:cNvPr id="1" name=""/>
        <p:cNvGrpSpPr/>
        <p:nvPr/>
      </p:nvGrpSpPr>
      <p:grpSpPr>
        <a:xfrm>
          <a:off x="0" y="0"/>
          <a:ext cx="0" cy="0"/>
          <a:chOff x="0" y="0"/>
          <a:chExt cx="0" cy="0"/>
        </a:xfrm>
      </p:grpSpPr>
      <p:sp>
        <p:nvSpPr>
          <p:cNvPr id="3" name="TextBox 3"/>
          <p:cNvSpPr txBox="1"/>
          <p:nvPr/>
        </p:nvSpPr>
        <p:spPr>
          <a:xfrm>
            <a:off x="1267568" y="1213771"/>
            <a:ext cx="8651320" cy="863600"/>
          </a:xfrm>
          <a:prstGeom prst="rect">
            <a:avLst/>
          </a:prstGeom>
        </p:spPr>
        <p:txBody>
          <a:bodyPr lIns="0" tIns="0" rIns="0" bIns="0" rtlCol="0" anchor="t">
            <a:spAutoFit/>
          </a:bodyPr>
          <a:lstStyle/>
          <a:p>
            <a:pPr algn="ctr">
              <a:lnSpc>
                <a:spcPts val="7000"/>
              </a:lnSpc>
            </a:pPr>
            <a:r>
              <a:rPr lang="en-US" sz="5000" b="1">
                <a:solidFill>
                  <a:srgbClr val="FFFFFF"/>
                </a:solidFill>
                <a:latin typeface="Canva Sans Bold" panose="020B0803030501040103"/>
                <a:ea typeface="Canva Sans Bold" panose="020B0803030501040103"/>
                <a:cs typeface="Canva Sans Bold" panose="020B0803030501040103"/>
                <a:sym typeface="Canva Sans Bold" panose="020B0803030501040103"/>
              </a:rPr>
              <a:t>Conclusion &amp; Future Scope :</a:t>
            </a:r>
            <a:endParaRPr lang="en-US" sz="50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grpSp>
        <p:nvGrpSpPr>
          <p:cNvPr id="4" name="Group 4"/>
          <p:cNvGrpSpPr/>
          <p:nvPr/>
        </p:nvGrpSpPr>
        <p:grpSpPr>
          <a:xfrm rot="0">
            <a:off x="1028700" y="1413758"/>
            <a:ext cx="15237135" cy="8396926"/>
            <a:chOff x="0" y="0"/>
            <a:chExt cx="4013073" cy="2211536"/>
          </a:xfrm>
        </p:grpSpPr>
        <p:sp>
          <p:nvSpPr>
            <p:cNvPr id="5" name="Freeform 5"/>
            <p:cNvSpPr/>
            <p:nvPr/>
          </p:nvSpPr>
          <p:spPr>
            <a:xfrm>
              <a:off x="0" y="0"/>
              <a:ext cx="4013072" cy="2211536"/>
            </a:xfrm>
            <a:custGeom>
              <a:avLst/>
              <a:gdLst/>
              <a:ahLst/>
              <a:cxnLst/>
              <a:rect l="l" t="t" r="r" b="b"/>
              <a:pathLst>
                <a:path w="4013072" h="2211536">
                  <a:moveTo>
                    <a:pt x="10162" y="0"/>
                  </a:moveTo>
                  <a:lnTo>
                    <a:pt x="4002911" y="0"/>
                  </a:lnTo>
                  <a:cubicBezTo>
                    <a:pt x="4005606" y="0"/>
                    <a:pt x="4008190" y="1071"/>
                    <a:pt x="4010096" y="2976"/>
                  </a:cubicBezTo>
                  <a:cubicBezTo>
                    <a:pt x="4012002" y="4882"/>
                    <a:pt x="4013072" y="7467"/>
                    <a:pt x="4013072" y="10162"/>
                  </a:cubicBezTo>
                  <a:lnTo>
                    <a:pt x="4013072" y="2201374"/>
                  </a:lnTo>
                  <a:cubicBezTo>
                    <a:pt x="4013072" y="2204069"/>
                    <a:pt x="4012002" y="2206654"/>
                    <a:pt x="4010096" y="2208560"/>
                  </a:cubicBezTo>
                  <a:cubicBezTo>
                    <a:pt x="4008190" y="2210465"/>
                    <a:pt x="4005606" y="2211536"/>
                    <a:pt x="4002911" y="2211536"/>
                  </a:cubicBezTo>
                  <a:lnTo>
                    <a:pt x="10162" y="2211536"/>
                  </a:lnTo>
                  <a:cubicBezTo>
                    <a:pt x="7467" y="2211536"/>
                    <a:pt x="4882" y="2210465"/>
                    <a:pt x="2976" y="2208560"/>
                  </a:cubicBezTo>
                  <a:cubicBezTo>
                    <a:pt x="1071" y="2206654"/>
                    <a:pt x="0" y="2204069"/>
                    <a:pt x="0" y="2201374"/>
                  </a:cubicBezTo>
                  <a:lnTo>
                    <a:pt x="0" y="10162"/>
                  </a:lnTo>
                  <a:cubicBezTo>
                    <a:pt x="0" y="7467"/>
                    <a:pt x="1071" y="4882"/>
                    <a:pt x="2976" y="2976"/>
                  </a:cubicBezTo>
                  <a:cubicBezTo>
                    <a:pt x="4882" y="1071"/>
                    <a:pt x="7467" y="0"/>
                    <a:pt x="10162"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4013073" cy="2249636"/>
            </a:xfrm>
            <a:prstGeom prst="rect">
              <a:avLst/>
            </a:prstGeom>
          </p:spPr>
          <p:txBody>
            <a:bodyPr lIns="50800" tIns="50800" rIns="50800" bIns="50800" rtlCol="0" anchor="ctr"/>
            <a:lstStyle/>
            <a:p>
              <a:pPr algn="ctr">
                <a:lnSpc>
                  <a:spcPts val="2660"/>
                </a:lnSpc>
              </a:pPr>
            </a:p>
          </p:txBody>
        </p:sp>
      </p:grpSp>
      <p:sp>
        <p:nvSpPr>
          <p:cNvPr id="7" name="Freeform 7"/>
          <p:cNvSpPr/>
          <p:nvPr/>
        </p:nvSpPr>
        <p:spPr>
          <a:xfrm>
            <a:off x="15249489" y="196027"/>
            <a:ext cx="2739706" cy="1122519"/>
          </a:xfrm>
          <a:custGeom>
            <a:avLst/>
            <a:gdLst/>
            <a:ahLst/>
            <a:cxnLst/>
            <a:rect l="l" t="t" r="r" b="b"/>
            <a:pathLst>
              <a:path w="2739706" h="1122519">
                <a:moveTo>
                  <a:pt x="0" y="0"/>
                </a:moveTo>
                <a:lnTo>
                  <a:pt x="2739706" y="0"/>
                </a:lnTo>
                <a:lnTo>
                  <a:pt x="2739706" y="1122519"/>
                </a:lnTo>
                <a:lnTo>
                  <a:pt x="0" y="1122519"/>
                </a:lnTo>
                <a:lnTo>
                  <a:pt x="0" y="0"/>
                </a:lnTo>
                <a:close/>
              </a:path>
            </a:pathLst>
          </a:custGeom>
          <a:blipFill>
            <a:blip r:embed="rId1"/>
            <a:stretch>
              <a:fillRect/>
            </a:stretch>
          </a:blipFill>
        </p:spPr>
      </p:sp>
      <p:sp>
        <p:nvSpPr>
          <p:cNvPr id="8" name="TextBox 8"/>
          <p:cNvSpPr txBox="1"/>
          <p:nvPr/>
        </p:nvSpPr>
        <p:spPr>
          <a:xfrm>
            <a:off x="1600200" y="1790700"/>
            <a:ext cx="8115300" cy="807720"/>
          </a:xfrm>
          <a:prstGeom prst="rect">
            <a:avLst/>
          </a:prstGeom>
        </p:spPr>
        <p:txBody>
          <a:bodyPr wrap="square" lIns="0" tIns="0" rIns="0" bIns="0" rtlCol="0" anchor="t">
            <a:spAutoFit/>
          </a:bodyPr>
          <a:lstStyle/>
          <a:p>
            <a:pPr algn="ctr">
              <a:lnSpc>
                <a:spcPts val="6300"/>
              </a:lnSpc>
            </a:pPr>
            <a:r>
              <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rPr>
              <a:t>Conclusion &amp; Future Scope :</a:t>
            </a:r>
            <a:endParaRPr lang="en-US" sz="45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9" name="TextBox 9"/>
          <p:cNvSpPr txBox="1"/>
          <p:nvPr/>
        </p:nvSpPr>
        <p:spPr>
          <a:xfrm>
            <a:off x="1632790" y="2766061"/>
            <a:ext cx="12556063" cy="6702657"/>
          </a:xfrm>
          <a:prstGeom prst="rect">
            <a:avLst/>
          </a:prstGeom>
        </p:spPr>
        <p:txBody>
          <a:bodyPr lIns="0" tIns="0" rIns="0" bIns="0" rtlCol="0" anchor="t">
            <a:spAutoFit/>
          </a:bodyPr>
          <a:lstStyle/>
          <a:p>
            <a:pPr algn="l">
              <a:lnSpc>
                <a:spcPts val="2990"/>
              </a:lnSpc>
            </a:pPr>
            <a:r>
              <a:rPr lang="en-US" sz="2135" b="1">
                <a:solidFill>
                  <a:srgbClr val="FFFFFF"/>
                </a:solidFill>
                <a:latin typeface="Canva Sans Bold" panose="020B0803030501040103"/>
                <a:ea typeface="Canva Sans Bold" panose="020B0803030501040103"/>
                <a:cs typeface="Canva Sans Bold" panose="020B0803030501040103"/>
                <a:sym typeface="Canva Sans Bold" panose="020B0803030501040103"/>
              </a:rPr>
              <a:t>Conclusion :</a:t>
            </a:r>
            <a:endParaRPr lang="en-US" sz="2135"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a:p>
            <a:pPr algn="l">
              <a:lnSpc>
                <a:spcPts val="2990"/>
              </a:lnSpc>
            </a:p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The Employee </a:t>
            </a:r>
            <a:r>
              <a:rPr lang="en-US" sz="2135">
                <a:solidFill>
                  <a:srgbClr val="FFFFFF"/>
                </a:solidFill>
                <a:latin typeface="Canva Sans" panose="020B0503030501040103"/>
                <a:ea typeface="Canva Sans" panose="020B0503030501040103"/>
                <a:cs typeface="Canva Sans" panose="020B0503030501040103"/>
                <a:sym typeface="Canva Sans" panose="020B0503030501040103"/>
              </a:rPr>
              <a:t>Attrition Analysis project successfully identified key factors influencing employee turnover.</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A machine learning model using Gradient Boosting Classifier was developed to predict employee attrition.</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The model achieved 89% accuracy, demonstrating the effectiveness of predictive analytics in HR decision-making.</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The project helps organizations take proactive steps to improve employee retention.</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2990"/>
              </a:lnSpc>
            </a:pPr>
          </a:p>
          <a:p>
            <a:pPr algn="l">
              <a:lnSpc>
                <a:spcPts val="2990"/>
              </a:lnSpc>
            </a:pPr>
            <a:r>
              <a:rPr lang="en-US" sz="2135" b="1">
                <a:solidFill>
                  <a:srgbClr val="FFFFFF"/>
                </a:solidFill>
                <a:latin typeface="Canva Sans Bold" panose="020B0803030501040103"/>
                <a:ea typeface="Canva Sans Bold" panose="020B0803030501040103"/>
                <a:cs typeface="Canva Sans Bold" panose="020B0803030501040103"/>
                <a:sym typeface="Canva Sans Bold" panose="020B0803030501040103"/>
              </a:rPr>
              <a:t>Future Scope :</a:t>
            </a:r>
            <a:endParaRPr lang="en-US" sz="2135"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a:p>
            <a:pPr algn="l">
              <a:lnSpc>
                <a:spcPts val="2990"/>
              </a:lnSpc>
            </a:p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Improve model performance by applying advanced machine learning and deep learning algorithms.</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Integrate real-time employee data for continuous attrition prediction.</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Develop an interactive dashboard for HR teams to monitor attrition trends.</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marL="461645" lvl="1" indent="-230505" algn="l">
              <a:lnSpc>
                <a:spcPts val="2990"/>
              </a:lnSpc>
              <a:buFont typeface="Arial" panose="020B0604020202020204"/>
              <a:buChar char="•"/>
            </a:pPr>
            <a:r>
              <a:rPr lang="en-US" sz="2135">
                <a:solidFill>
                  <a:srgbClr val="FFFFFF"/>
                </a:solidFill>
                <a:latin typeface="Canva Sans" panose="020B0503030501040103"/>
                <a:ea typeface="Canva Sans" panose="020B0503030501040103"/>
                <a:cs typeface="Canva Sans" panose="020B0503030501040103"/>
                <a:sym typeface="Canva Sans" panose="020B0503030501040103"/>
              </a:rPr>
              <a:t>Provide personalized retention strategies based on employee insights.</a:t>
            </a:r>
            <a:endParaRPr lang="en-US" sz="2135">
              <a:solidFill>
                <a:srgbClr val="FFFFFF"/>
              </a:solidFill>
              <a:latin typeface="Canva Sans" panose="020B0503030501040103"/>
              <a:ea typeface="Canva Sans" panose="020B0503030501040103"/>
              <a:cs typeface="Canva Sans" panose="020B0503030501040103"/>
              <a:sym typeface="Canva Sans" panose="020B0503030501040103"/>
            </a:endParaRPr>
          </a:p>
          <a:p>
            <a:pPr algn="ctr">
              <a:lnSpc>
                <a:spcPts val="2990"/>
              </a:lnSpc>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59" b="-9259"/>
            </a:stretch>
          </a:blipFill>
        </p:spPr>
      </p:sp>
      <p:sp>
        <p:nvSpPr>
          <p:cNvPr id="3" name="TextBox 3"/>
          <p:cNvSpPr txBox="1"/>
          <p:nvPr/>
        </p:nvSpPr>
        <p:spPr>
          <a:xfrm>
            <a:off x="4208090" y="4791537"/>
            <a:ext cx="10686034" cy="1405823"/>
          </a:xfrm>
          <a:prstGeom prst="rect">
            <a:avLst/>
          </a:prstGeom>
        </p:spPr>
        <p:txBody>
          <a:bodyPr lIns="0" tIns="0" rIns="0" bIns="0" rtlCol="0" anchor="t">
            <a:spAutoFit/>
          </a:bodyPr>
          <a:lstStyle/>
          <a:p>
            <a:pPr algn="l">
              <a:lnSpc>
                <a:spcPts val="10005"/>
              </a:lnSpc>
            </a:pPr>
            <a:r>
              <a:rPr lang="en-US" sz="11500">
                <a:solidFill>
                  <a:srgbClr val="FFFFFF"/>
                </a:solidFill>
                <a:latin typeface="Archivo Black" panose="020B0A03020202020B04"/>
                <a:ea typeface="Archivo Black" panose="020B0A03020202020B04"/>
                <a:cs typeface="Archivo Black" panose="020B0A03020202020B04"/>
                <a:sym typeface="Archivo Black" panose="020B0A03020202020B04"/>
              </a:rPr>
              <a:t>THANK YOU</a:t>
            </a:r>
            <a:endParaRPr lang="en-US" sz="11500">
              <a:solidFill>
                <a:srgbClr val="FFFFFF"/>
              </a:solidFill>
              <a:latin typeface="Archivo Black" panose="020B0A03020202020B04"/>
              <a:ea typeface="Archivo Black" panose="020B0A03020202020B04"/>
              <a:cs typeface="Archivo Black" panose="020B0A03020202020B04"/>
              <a:sym typeface="Archivo Black" panose="020B0A03020202020B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7009</Words>
  <Application>WPS Presentation</Application>
  <PresentationFormat>On-screen Show (4:3)</PresentationFormat>
  <Paragraphs>230</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Archivo Black</vt:lpstr>
      <vt:lpstr>Red Hat Display</vt:lpstr>
      <vt:lpstr>Lato</vt:lpstr>
      <vt:lpstr>Canva Sans Bold</vt:lpstr>
      <vt:lpstr>Canva Sans</vt:lpstr>
      <vt:lpstr>Red Hat Display Bold</vt:lpstr>
      <vt:lpstr>Arial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Project Presentation</dc:title>
  <dc:creator/>
  <cp:lastModifiedBy>Pedavalli Leela</cp:lastModifiedBy>
  <cp:revision>3</cp:revision>
  <dcterms:created xsi:type="dcterms:W3CDTF">2006-08-16T00:00:00Z</dcterms:created>
  <dcterms:modified xsi:type="dcterms:W3CDTF">2026-07-30T12:40:38Z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7686FDEFDEBE46A5A65572FE0B98A826_13</vt:lpwstr>
  </property>
  <property fmtid="{D5CDD505-2E9C-101B-9397-08002B2CF9AE}" pid="3" name="KSOProductBuildVer">
    <vt:lpwstr>2057-12.2.0.23206</vt:lpwstr>
  </property>
</Properties>
</file>